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753600" cy="7315200"/>
  <p:notesSz cx="9753600" cy="7315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57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1520" y="2267712"/>
            <a:ext cx="8290560" cy="1536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rgbClr val="F1E78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63040" y="4096512"/>
            <a:ext cx="682752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rgbClr val="F4E78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rgbClr val="F1E78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rgbClr val="F4E78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rgbClr val="F1E78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87680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023104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rgbClr val="F1E78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9753600" y="7315200"/>
                </a:moveTo>
                <a:lnTo>
                  <a:pt x="0" y="7315200"/>
                </a:lnTo>
                <a:lnTo>
                  <a:pt x="0" y="0"/>
                </a:lnTo>
                <a:lnTo>
                  <a:pt x="9753600" y="0"/>
                </a:lnTo>
                <a:lnTo>
                  <a:pt x="9753600" y="7315200"/>
                </a:lnTo>
                <a:close/>
              </a:path>
            </a:pathLst>
          </a:custGeom>
          <a:solidFill>
            <a:srgbClr val="1B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6493" y="546495"/>
            <a:ext cx="4959350" cy="9442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rgbClr val="F1E78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74093" y="1814872"/>
            <a:ext cx="5063490" cy="4973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rgbClr val="F4E78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16224" y="6803136"/>
            <a:ext cx="3121152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876800" y="0"/>
            <a:ext cx="4876800" cy="7315200"/>
            <a:chOff x="4876800" y="0"/>
            <a:chExt cx="4876800" cy="7315200"/>
          </a:xfrm>
        </p:grpSpPr>
        <p:pic>
          <p:nvPicPr>
            <p:cNvPr id="3" name="object 3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59484" y="6995159"/>
              <a:ext cx="1148428" cy="27431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76800" y="0"/>
              <a:ext cx="4876799" cy="73151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96014" y="1580502"/>
            <a:ext cx="3884929" cy="18776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ts val="3679"/>
              </a:lnSpc>
              <a:spcBef>
                <a:spcPts val="65"/>
              </a:spcBef>
              <a:tabLst>
                <a:tab pos="1343660" algn="l"/>
                <a:tab pos="2466340" algn="l"/>
                <a:tab pos="3349625" algn="l"/>
              </a:tabLst>
            </a:pPr>
            <a:r>
              <a:rPr spc="-25" dirty="0"/>
              <a:t>AI-</a:t>
            </a:r>
            <a:r>
              <a:rPr spc="140" dirty="0"/>
              <a:t>Powered</a:t>
            </a:r>
            <a:r>
              <a:rPr dirty="0"/>
              <a:t>	</a:t>
            </a:r>
            <a:r>
              <a:rPr spc="60" dirty="0"/>
              <a:t>Identity </a:t>
            </a:r>
            <a:r>
              <a:rPr spc="90" dirty="0"/>
              <a:t>Verification</a:t>
            </a:r>
            <a:r>
              <a:rPr spc="-5" dirty="0"/>
              <a:t> </a:t>
            </a:r>
            <a:r>
              <a:rPr spc="120" dirty="0"/>
              <a:t>and </a:t>
            </a:r>
            <a:r>
              <a:rPr spc="155" dirty="0"/>
              <a:t>Fraud</a:t>
            </a:r>
            <a:r>
              <a:rPr dirty="0"/>
              <a:t>	</a:t>
            </a:r>
            <a:r>
              <a:rPr spc="145" dirty="0"/>
              <a:t>Detection</a:t>
            </a:r>
            <a:r>
              <a:rPr dirty="0"/>
              <a:t>	</a:t>
            </a:r>
            <a:r>
              <a:rPr spc="80" dirty="0"/>
              <a:t>for </a:t>
            </a:r>
            <a:r>
              <a:rPr dirty="0"/>
              <a:t>KYC</a:t>
            </a:r>
            <a:r>
              <a:rPr spc="85" dirty="0"/>
              <a:t> </a:t>
            </a:r>
            <a:r>
              <a:rPr spc="130" dirty="0"/>
              <a:t>Compliance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96014" y="4902215"/>
            <a:ext cx="2390140" cy="17964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spc="100" dirty="0">
                <a:solidFill>
                  <a:srgbClr val="F4E782"/>
                </a:solidFill>
                <a:latin typeface="Palatino Linotype"/>
                <a:cs typeface="Palatino Linotype"/>
              </a:rPr>
              <a:t>Presented</a:t>
            </a:r>
            <a:r>
              <a:rPr sz="1500" dirty="0">
                <a:solidFill>
                  <a:srgbClr val="F4E782"/>
                </a:solidFill>
                <a:latin typeface="Palatino Linotype"/>
                <a:cs typeface="Palatino Linotype"/>
              </a:rPr>
              <a:t> </a:t>
            </a:r>
            <a:r>
              <a:rPr sz="1500" spc="40" dirty="0">
                <a:solidFill>
                  <a:srgbClr val="F4E782"/>
                </a:solidFill>
                <a:latin typeface="Palatino Linotype"/>
                <a:cs typeface="Palatino Linotype"/>
              </a:rPr>
              <a:t>By:</a:t>
            </a:r>
            <a:endParaRPr sz="1500" dirty="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lang="en-US" sz="1500" spc="70">
                <a:solidFill>
                  <a:srgbClr val="F4E782"/>
                </a:solidFill>
                <a:latin typeface="Palatino Linotype"/>
                <a:cs typeface="Palatino Linotype"/>
              </a:rPr>
              <a:t>Tanmayi NVL</a:t>
            </a:r>
            <a:endParaRPr sz="1500" dirty="0">
              <a:latin typeface="Palatino Linotype"/>
              <a:cs typeface="Palatino Linotype"/>
            </a:endParaRPr>
          </a:p>
          <a:p>
            <a:pPr marL="12700" marR="1231900">
              <a:lnSpc>
                <a:spcPct val="208300"/>
              </a:lnSpc>
              <a:spcBef>
                <a:spcPts val="1125"/>
              </a:spcBef>
            </a:pPr>
            <a:r>
              <a:rPr sz="1500" spc="95" dirty="0">
                <a:solidFill>
                  <a:srgbClr val="F4E782"/>
                </a:solidFill>
                <a:latin typeface="Palatino Linotype"/>
                <a:cs typeface="Palatino Linotype"/>
              </a:rPr>
              <a:t>Mentor</a:t>
            </a:r>
            <a:r>
              <a:rPr sz="1500" spc="-10" dirty="0">
                <a:solidFill>
                  <a:srgbClr val="F4E782"/>
                </a:solidFill>
                <a:latin typeface="Palatino Linotype"/>
                <a:cs typeface="Palatino Linotype"/>
              </a:rPr>
              <a:t> </a:t>
            </a:r>
            <a:r>
              <a:rPr sz="1500" spc="-50" dirty="0">
                <a:solidFill>
                  <a:srgbClr val="F4E782"/>
                </a:solidFill>
                <a:latin typeface="Palatino Linotype"/>
                <a:cs typeface="Palatino Linotype"/>
              </a:rPr>
              <a:t>: </a:t>
            </a:r>
            <a:r>
              <a:rPr sz="1500" dirty="0">
                <a:solidFill>
                  <a:srgbClr val="F4E782"/>
                </a:solidFill>
                <a:latin typeface="Palatino Linotype"/>
                <a:cs typeface="Palatino Linotype"/>
              </a:rPr>
              <a:t>Kapil</a:t>
            </a:r>
            <a:r>
              <a:rPr sz="1500" spc="210" dirty="0">
                <a:solidFill>
                  <a:srgbClr val="F4E782"/>
                </a:solidFill>
                <a:latin typeface="Palatino Linotype"/>
                <a:cs typeface="Palatino Linotype"/>
              </a:rPr>
              <a:t> </a:t>
            </a:r>
            <a:r>
              <a:rPr sz="1500" spc="65" dirty="0">
                <a:solidFill>
                  <a:srgbClr val="F4E782"/>
                </a:solidFill>
                <a:latin typeface="Palatino Linotype"/>
                <a:cs typeface="Palatino Linotype"/>
              </a:rPr>
              <a:t>Pawar</a:t>
            </a:r>
            <a:endParaRPr sz="1500" dirty="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657599" cy="73151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74093" y="1077594"/>
            <a:ext cx="3559175" cy="477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165" dirty="0"/>
              <a:t>Problem</a:t>
            </a:r>
            <a:r>
              <a:rPr dirty="0"/>
              <a:t> </a:t>
            </a:r>
            <a:r>
              <a:rPr spc="165" dirty="0"/>
              <a:t>Statement</a:t>
            </a:r>
          </a:p>
        </p:txBody>
      </p:sp>
      <p:sp>
        <p:nvSpPr>
          <p:cNvPr id="4" name="object 4"/>
          <p:cNvSpPr/>
          <p:nvPr/>
        </p:nvSpPr>
        <p:spPr>
          <a:xfrm>
            <a:off x="4120118" y="236959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20118" y="302713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20118" y="368468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20118" y="493189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20118" y="528710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20118" y="594465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60" dirty="0"/>
              <a:t>Why</a:t>
            </a:r>
            <a:r>
              <a:rPr spc="20" dirty="0"/>
              <a:t> </a:t>
            </a:r>
            <a:r>
              <a:rPr dirty="0"/>
              <a:t>KYC</a:t>
            </a:r>
            <a:r>
              <a:rPr spc="20" dirty="0"/>
              <a:t> </a:t>
            </a:r>
            <a:r>
              <a:rPr spc="90" dirty="0"/>
              <a:t>Fraud</a:t>
            </a:r>
            <a:r>
              <a:rPr spc="25" dirty="0"/>
              <a:t> </a:t>
            </a:r>
            <a:r>
              <a:rPr spc="85" dirty="0"/>
              <a:t>Detection</a:t>
            </a:r>
            <a:r>
              <a:rPr spc="20" dirty="0"/>
              <a:t> </a:t>
            </a:r>
            <a:r>
              <a:rPr dirty="0"/>
              <a:t>is</a:t>
            </a:r>
            <a:r>
              <a:rPr spc="25" dirty="0"/>
              <a:t> </a:t>
            </a:r>
            <a:r>
              <a:rPr spc="50" dirty="0"/>
              <a:t>Important:</a:t>
            </a:r>
          </a:p>
          <a:p>
            <a:pPr marL="130175" marR="5080">
              <a:lnSpc>
                <a:spcPct val="133600"/>
              </a:lnSpc>
              <a:spcBef>
                <a:spcPts val="1160"/>
              </a:spcBef>
            </a:pPr>
            <a:r>
              <a:rPr sz="1450" spc="60" dirty="0">
                <a:solidFill>
                  <a:srgbClr val="CFCBBE"/>
                </a:solidFill>
              </a:rPr>
              <a:t>Manual</a:t>
            </a:r>
            <a:r>
              <a:rPr sz="1450" spc="130" dirty="0">
                <a:solidFill>
                  <a:srgbClr val="CFCBBE"/>
                </a:solidFill>
              </a:rPr>
              <a:t> </a:t>
            </a:r>
            <a:r>
              <a:rPr sz="1450" dirty="0">
                <a:solidFill>
                  <a:srgbClr val="CFCBBE"/>
                </a:solidFill>
              </a:rPr>
              <a:t>KYC</a:t>
            </a:r>
            <a:r>
              <a:rPr sz="1450" spc="130" dirty="0">
                <a:solidFill>
                  <a:srgbClr val="CFCBBE"/>
                </a:solidFill>
              </a:rPr>
              <a:t> </a:t>
            </a:r>
            <a:r>
              <a:rPr sz="1450" spc="90" dirty="0">
                <a:solidFill>
                  <a:srgbClr val="CFCBBE"/>
                </a:solidFill>
              </a:rPr>
              <a:t>processes</a:t>
            </a:r>
            <a:r>
              <a:rPr sz="1450" spc="135" dirty="0">
                <a:solidFill>
                  <a:srgbClr val="CFCBBE"/>
                </a:solidFill>
              </a:rPr>
              <a:t> </a:t>
            </a:r>
            <a:r>
              <a:rPr sz="1450" spc="90" dirty="0">
                <a:solidFill>
                  <a:srgbClr val="CFCBBE"/>
                </a:solidFill>
              </a:rPr>
              <a:t>are</a:t>
            </a:r>
            <a:r>
              <a:rPr sz="1450" spc="130" dirty="0">
                <a:solidFill>
                  <a:srgbClr val="CFCBBE"/>
                </a:solidFill>
              </a:rPr>
              <a:t> </a:t>
            </a:r>
            <a:r>
              <a:rPr sz="1450" dirty="0">
                <a:solidFill>
                  <a:srgbClr val="CFCBBE"/>
                </a:solidFill>
              </a:rPr>
              <a:t>time-</a:t>
            </a:r>
            <a:r>
              <a:rPr sz="1450" spc="60" dirty="0">
                <a:solidFill>
                  <a:srgbClr val="CFCBBE"/>
                </a:solidFill>
              </a:rPr>
              <a:t>consuming</a:t>
            </a:r>
            <a:r>
              <a:rPr sz="1450" spc="130" dirty="0">
                <a:solidFill>
                  <a:srgbClr val="CFCBBE"/>
                </a:solidFill>
              </a:rPr>
              <a:t> </a:t>
            </a:r>
            <a:r>
              <a:rPr sz="1450" spc="70" dirty="0">
                <a:solidFill>
                  <a:srgbClr val="CFCBBE"/>
                </a:solidFill>
              </a:rPr>
              <a:t>and</a:t>
            </a:r>
            <a:r>
              <a:rPr sz="1450" spc="135" dirty="0">
                <a:solidFill>
                  <a:srgbClr val="CFCBBE"/>
                </a:solidFill>
              </a:rPr>
              <a:t> </a:t>
            </a:r>
            <a:r>
              <a:rPr sz="1450" spc="55" dirty="0">
                <a:solidFill>
                  <a:srgbClr val="CFCBBE"/>
                </a:solidFill>
              </a:rPr>
              <a:t>error- </a:t>
            </a:r>
            <a:r>
              <a:rPr sz="1450" spc="45" dirty="0">
                <a:solidFill>
                  <a:srgbClr val="CFCBBE"/>
                </a:solidFill>
              </a:rPr>
              <a:t>prone.</a:t>
            </a:r>
            <a:endParaRPr sz="1450"/>
          </a:p>
          <a:p>
            <a:pPr marL="130175" marR="5080">
              <a:lnSpc>
                <a:spcPct val="133600"/>
              </a:lnSpc>
              <a:spcBef>
                <a:spcPts val="525"/>
              </a:spcBef>
            </a:pPr>
            <a:r>
              <a:rPr sz="1450" spc="65" dirty="0">
                <a:solidFill>
                  <a:srgbClr val="CFCBBE"/>
                </a:solidFill>
              </a:rPr>
              <a:t>Increasing</a:t>
            </a:r>
            <a:r>
              <a:rPr sz="1450" spc="245" dirty="0">
                <a:solidFill>
                  <a:srgbClr val="CFCBBE"/>
                </a:solidFill>
              </a:rPr>
              <a:t> </a:t>
            </a:r>
            <a:r>
              <a:rPr sz="1450" spc="100" dirty="0">
                <a:solidFill>
                  <a:srgbClr val="CFCBBE"/>
                </a:solidFill>
              </a:rPr>
              <a:t>cases</a:t>
            </a:r>
            <a:r>
              <a:rPr sz="1450" spc="245" dirty="0">
                <a:solidFill>
                  <a:srgbClr val="CFCBBE"/>
                </a:solidFill>
              </a:rPr>
              <a:t> </a:t>
            </a:r>
            <a:r>
              <a:rPr sz="1450" dirty="0">
                <a:solidFill>
                  <a:srgbClr val="CFCBBE"/>
                </a:solidFill>
              </a:rPr>
              <a:t>of</a:t>
            </a:r>
            <a:r>
              <a:rPr sz="1450" spc="245" dirty="0">
                <a:solidFill>
                  <a:srgbClr val="CFCBBE"/>
                </a:solidFill>
              </a:rPr>
              <a:t> </a:t>
            </a:r>
            <a:r>
              <a:rPr sz="1450" spc="55" dirty="0">
                <a:solidFill>
                  <a:srgbClr val="CFCBBE"/>
                </a:solidFill>
              </a:rPr>
              <a:t>duplicate</a:t>
            </a:r>
            <a:r>
              <a:rPr sz="1450" spc="250" dirty="0">
                <a:solidFill>
                  <a:srgbClr val="CFCBBE"/>
                </a:solidFill>
              </a:rPr>
              <a:t> </a:t>
            </a:r>
            <a:r>
              <a:rPr sz="1450" dirty="0">
                <a:solidFill>
                  <a:srgbClr val="CFCBBE"/>
                </a:solidFill>
              </a:rPr>
              <a:t>Aadhaar,</a:t>
            </a:r>
            <a:r>
              <a:rPr sz="1450" spc="245" dirty="0">
                <a:solidFill>
                  <a:srgbClr val="CFCBBE"/>
                </a:solidFill>
              </a:rPr>
              <a:t> </a:t>
            </a:r>
            <a:r>
              <a:rPr sz="1450" spc="55" dirty="0">
                <a:solidFill>
                  <a:srgbClr val="CFCBBE"/>
                </a:solidFill>
              </a:rPr>
              <a:t>fake</a:t>
            </a:r>
            <a:r>
              <a:rPr sz="1450" spc="245" dirty="0">
                <a:solidFill>
                  <a:srgbClr val="CFCBBE"/>
                </a:solidFill>
              </a:rPr>
              <a:t> </a:t>
            </a:r>
            <a:r>
              <a:rPr sz="1450" dirty="0">
                <a:solidFill>
                  <a:srgbClr val="CFCBBE"/>
                </a:solidFill>
              </a:rPr>
              <a:t>PAN,</a:t>
            </a:r>
            <a:r>
              <a:rPr sz="1450" spc="250" dirty="0">
                <a:solidFill>
                  <a:srgbClr val="CFCBBE"/>
                </a:solidFill>
              </a:rPr>
              <a:t> </a:t>
            </a:r>
            <a:r>
              <a:rPr sz="1450" spc="45" dirty="0">
                <a:solidFill>
                  <a:srgbClr val="CFCBBE"/>
                </a:solidFill>
              </a:rPr>
              <a:t>and </a:t>
            </a:r>
            <a:r>
              <a:rPr sz="1450" spc="55" dirty="0">
                <a:solidFill>
                  <a:srgbClr val="CFCBBE"/>
                </a:solidFill>
              </a:rPr>
              <a:t>manipulated</a:t>
            </a:r>
            <a:r>
              <a:rPr sz="1450" spc="114" dirty="0">
                <a:solidFill>
                  <a:srgbClr val="CFCBBE"/>
                </a:solidFill>
              </a:rPr>
              <a:t> </a:t>
            </a:r>
            <a:r>
              <a:rPr sz="1450" dirty="0">
                <a:solidFill>
                  <a:srgbClr val="CFCBBE"/>
                </a:solidFill>
              </a:rPr>
              <a:t>identity</a:t>
            </a:r>
            <a:r>
              <a:rPr sz="1450" spc="114" dirty="0">
                <a:solidFill>
                  <a:srgbClr val="CFCBBE"/>
                </a:solidFill>
              </a:rPr>
              <a:t> </a:t>
            </a:r>
            <a:r>
              <a:rPr sz="1450" spc="35" dirty="0">
                <a:solidFill>
                  <a:srgbClr val="CFCBBE"/>
                </a:solidFill>
              </a:rPr>
              <a:t>proofs.</a:t>
            </a:r>
            <a:endParaRPr sz="1450"/>
          </a:p>
          <a:p>
            <a:pPr marL="130175" marR="5080">
              <a:lnSpc>
                <a:spcPct val="133600"/>
              </a:lnSpc>
              <a:spcBef>
                <a:spcPts val="530"/>
              </a:spcBef>
              <a:tabLst>
                <a:tab pos="1278255" algn="l"/>
                <a:tab pos="2525395" algn="l"/>
                <a:tab pos="3756025" algn="l"/>
                <a:tab pos="4594225" algn="l"/>
              </a:tabLst>
            </a:pPr>
            <a:r>
              <a:rPr sz="1450" spc="-10" dirty="0">
                <a:solidFill>
                  <a:srgbClr val="CFCBBE"/>
                </a:solidFill>
              </a:rPr>
              <a:t>Regulatory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45" dirty="0">
                <a:solidFill>
                  <a:srgbClr val="CFCBBE"/>
                </a:solidFill>
              </a:rPr>
              <a:t>frameworks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-10" dirty="0">
                <a:solidFill>
                  <a:srgbClr val="CFCBBE"/>
                </a:solidFill>
              </a:rPr>
              <a:t>(AML/KYC)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60" dirty="0">
                <a:solidFill>
                  <a:srgbClr val="CFCBBE"/>
                </a:solidFill>
              </a:rPr>
              <a:t>require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45" dirty="0">
                <a:solidFill>
                  <a:srgbClr val="CFCBBE"/>
                </a:solidFill>
              </a:rPr>
              <a:t>strict </a:t>
            </a:r>
            <a:r>
              <a:rPr sz="1450" spc="80" dirty="0">
                <a:solidFill>
                  <a:srgbClr val="CFCBBE"/>
                </a:solidFill>
              </a:rPr>
              <a:t>compliance</a:t>
            </a:r>
            <a:r>
              <a:rPr sz="1450" spc="-5" dirty="0">
                <a:solidFill>
                  <a:srgbClr val="CFCBBE"/>
                </a:solidFill>
              </a:rPr>
              <a:t> </a:t>
            </a:r>
            <a:r>
              <a:rPr sz="1450" spc="70" dirty="0">
                <a:solidFill>
                  <a:srgbClr val="CFCBBE"/>
                </a:solidFill>
              </a:rPr>
              <a:t>and</a:t>
            </a:r>
            <a:r>
              <a:rPr sz="1450" dirty="0">
                <a:solidFill>
                  <a:srgbClr val="CFCBBE"/>
                </a:solidFill>
              </a:rPr>
              <a:t> </a:t>
            </a:r>
            <a:r>
              <a:rPr sz="1450" spc="50" dirty="0">
                <a:solidFill>
                  <a:srgbClr val="CFCBBE"/>
                </a:solidFill>
              </a:rPr>
              <a:t>transparency.</a:t>
            </a:r>
            <a:endParaRPr sz="1450"/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450"/>
          </a:p>
          <a:p>
            <a:pPr marL="12700">
              <a:lnSpc>
                <a:spcPct val="100000"/>
              </a:lnSpc>
            </a:pPr>
            <a:r>
              <a:rPr spc="65" dirty="0"/>
              <a:t>Real-World</a:t>
            </a:r>
            <a:r>
              <a:rPr spc="10" dirty="0"/>
              <a:t> </a:t>
            </a:r>
            <a:r>
              <a:rPr spc="50" dirty="0"/>
              <a:t>Issues:</a:t>
            </a:r>
          </a:p>
          <a:p>
            <a:pPr marL="130175">
              <a:lnSpc>
                <a:spcPct val="100000"/>
              </a:lnSpc>
              <a:spcBef>
                <a:spcPts val="1745"/>
              </a:spcBef>
            </a:pPr>
            <a:r>
              <a:rPr sz="1450" spc="70" dirty="0">
                <a:solidFill>
                  <a:srgbClr val="CFCBBE"/>
                </a:solidFill>
              </a:rPr>
              <a:t>Forged</a:t>
            </a:r>
            <a:r>
              <a:rPr sz="1450" spc="-5" dirty="0">
                <a:solidFill>
                  <a:srgbClr val="CFCBBE"/>
                </a:solidFill>
              </a:rPr>
              <a:t> </a:t>
            </a:r>
            <a:r>
              <a:rPr sz="1450" spc="80" dirty="0">
                <a:solidFill>
                  <a:srgbClr val="CFCBBE"/>
                </a:solidFill>
              </a:rPr>
              <a:t>documents</a:t>
            </a:r>
            <a:r>
              <a:rPr sz="1450" spc="-5" dirty="0">
                <a:solidFill>
                  <a:srgbClr val="CFCBBE"/>
                </a:solidFill>
              </a:rPr>
              <a:t> </a:t>
            </a:r>
            <a:r>
              <a:rPr sz="1450" spc="65" dirty="0">
                <a:solidFill>
                  <a:srgbClr val="CFCBBE"/>
                </a:solidFill>
              </a:rPr>
              <a:t>bypass</a:t>
            </a:r>
            <a:r>
              <a:rPr sz="1450" spc="-5" dirty="0">
                <a:solidFill>
                  <a:srgbClr val="CFCBBE"/>
                </a:solidFill>
              </a:rPr>
              <a:t> </a:t>
            </a:r>
            <a:r>
              <a:rPr sz="1450" spc="65" dirty="0">
                <a:solidFill>
                  <a:srgbClr val="CFCBBE"/>
                </a:solidFill>
              </a:rPr>
              <a:t>manual</a:t>
            </a:r>
            <a:r>
              <a:rPr sz="1450" spc="-5" dirty="0">
                <a:solidFill>
                  <a:srgbClr val="CFCBBE"/>
                </a:solidFill>
              </a:rPr>
              <a:t> </a:t>
            </a:r>
            <a:r>
              <a:rPr sz="1450" spc="60" dirty="0">
                <a:solidFill>
                  <a:srgbClr val="CFCBBE"/>
                </a:solidFill>
              </a:rPr>
              <a:t>checks.</a:t>
            </a:r>
            <a:endParaRPr sz="1450"/>
          </a:p>
          <a:p>
            <a:pPr marL="130175" marR="5080">
              <a:lnSpc>
                <a:spcPct val="133600"/>
              </a:lnSpc>
              <a:spcBef>
                <a:spcPts val="470"/>
              </a:spcBef>
              <a:tabLst>
                <a:tab pos="704215" algn="l"/>
                <a:tab pos="1015365" algn="l"/>
                <a:tab pos="2164715" algn="l"/>
                <a:tab pos="3032125" algn="l"/>
                <a:tab pos="3977640" algn="l"/>
                <a:tab pos="4371340" algn="l"/>
              </a:tabLst>
            </a:pPr>
            <a:r>
              <a:rPr sz="1450" spc="65" dirty="0">
                <a:solidFill>
                  <a:srgbClr val="CFCBBE"/>
                </a:solidFill>
              </a:rPr>
              <a:t>Lack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-25" dirty="0">
                <a:solidFill>
                  <a:srgbClr val="CFCBBE"/>
                </a:solidFill>
              </a:rPr>
              <a:t>of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50" dirty="0">
                <a:solidFill>
                  <a:srgbClr val="CFCBBE"/>
                </a:solidFill>
              </a:rPr>
              <a:t>automated,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70" dirty="0">
                <a:solidFill>
                  <a:srgbClr val="CFCBBE"/>
                </a:solidFill>
              </a:rPr>
              <a:t>scalable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35" dirty="0">
                <a:solidFill>
                  <a:srgbClr val="CFCBBE"/>
                </a:solidFill>
              </a:rPr>
              <a:t>solutions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25" dirty="0">
                <a:solidFill>
                  <a:srgbClr val="CFCBBE"/>
                </a:solidFill>
              </a:rPr>
              <a:t>for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-10" dirty="0">
                <a:solidFill>
                  <a:srgbClr val="CFCBBE"/>
                </a:solidFill>
              </a:rPr>
              <a:t>identity verification.</a:t>
            </a:r>
            <a:endParaRPr sz="1450"/>
          </a:p>
          <a:p>
            <a:pPr marL="130175">
              <a:lnSpc>
                <a:spcPct val="100000"/>
              </a:lnSpc>
              <a:spcBef>
                <a:spcPts val="1115"/>
              </a:spcBef>
            </a:pPr>
            <a:r>
              <a:rPr sz="1450" dirty="0">
                <a:solidFill>
                  <a:srgbClr val="CFCBBE"/>
                </a:solidFill>
              </a:rPr>
              <a:t>High</a:t>
            </a:r>
            <a:r>
              <a:rPr sz="1450" spc="35" dirty="0">
                <a:solidFill>
                  <a:srgbClr val="CFCBBE"/>
                </a:solidFill>
              </a:rPr>
              <a:t> </a:t>
            </a:r>
            <a:r>
              <a:rPr sz="1450" spc="80" dirty="0">
                <a:solidFill>
                  <a:srgbClr val="CFCBBE"/>
                </a:solidFill>
              </a:rPr>
              <a:t>compliance</a:t>
            </a:r>
            <a:r>
              <a:rPr sz="1450" spc="40" dirty="0">
                <a:solidFill>
                  <a:srgbClr val="CFCBBE"/>
                </a:solidFill>
              </a:rPr>
              <a:t> </a:t>
            </a:r>
            <a:r>
              <a:rPr sz="1450" dirty="0">
                <a:solidFill>
                  <a:srgbClr val="CFCBBE"/>
                </a:solidFill>
              </a:rPr>
              <a:t>risks</a:t>
            </a:r>
            <a:r>
              <a:rPr sz="1450" spc="40" dirty="0">
                <a:solidFill>
                  <a:srgbClr val="CFCBBE"/>
                </a:solidFill>
              </a:rPr>
              <a:t> </a:t>
            </a:r>
            <a:r>
              <a:rPr sz="1450" spc="50" dirty="0">
                <a:solidFill>
                  <a:srgbClr val="CFCBBE"/>
                </a:solidFill>
              </a:rPr>
              <a:t>for</a:t>
            </a:r>
            <a:r>
              <a:rPr sz="1450" spc="40" dirty="0">
                <a:solidFill>
                  <a:srgbClr val="CFCBBE"/>
                </a:solidFill>
              </a:rPr>
              <a:t> </a:t>
            </a:r>
            <a:r>
              <a:rPr sz="1450" spc="75" dirty="0">
                <a:solidFill>
                  <a:srgbClr val="CFCBBE"/>
                </a:solidFill>
              </a:rPr>
              <a:t>banks</a:t>
            </a:r>
            <a:r>
              <a:rPr sz="1450" spc="35" dirty="0">
                <a:solidFill>
                  <a:srgbClr val="CFCBBE"/>
                </a:solidFill>
              </a:rPr>
              <a:t> </a:t>
            </a:r>
            <a:r>
              <a:rPr sz="1450" spc="70" dirty="0">
                <a:solidFill>
                  <a:srgbClr val="CFCBBE"/>
                </a:solidFill>
              </a:rPr>
              <a:t>and</a:t>
            </a:r>
            <a:r>
              <a:rPr sz="1450" spc="40" dirty="0">
                <a:solidFill>
                  <a:srgbClr val="CFCBBE"/>
                </a:solidFill>
              </a:rPr>
              <a:t> fintechs.</a:t>
            </a:r>
            <a:endParaRPr sz="14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751105" cy="283527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16493" y="3656257"/>
            <a:ext cx="3338195" cy="477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spc="175" dirty="0">
                <a:solidFill>
                  <a:srgbClr val="F1E781"/>
                </a:solidFill>
                <a:latin typeface="Palatino Linotype"/>
                <a:cs typeface="Palatino Linotype"/>
              </a:rPr>
              <a:t>Project</a:t>
            </a:r>
            <a:r>
              <a:rPr sz="2950" spc="-10" dirty="0">
                <a:solidFill>
                  <a:srgbClr val="F1E781"/>
                </a:solidFill>
                <a:latin typeface="Palatino Linotype"/>
                <a:cs typeface="Palatino Linotype"/>
              </a:rPr>
              <a:t> </a:t>
            </a:r>
            <a:r>
              <a:rPr sz="2950" spc="130" dirty="0">
                <a:solidFill>
                  <a:srgbClr val="F1E781"/>
                </a:solidFill>
                <a:latin typeface="Palatino Linotype"/>
                <a:cs typeface="Palatino Linotype"/>
              </a:rPr>
              <a:t>Objectives</a:t>
            </a:r>
            <a:endParaRPr sz="295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9193" y="4410943"/>
            <a:ext cx="340360" cy="340360"/>
          </a:xfrm>
          <a:custGeom>
            <a:avLst/>
            <a:gdLst/>
            <a:ahLst/>
            <a:cxnLst/>
            <a:rect l="l" t="t" r="r" b="b"/>
            <a:pathLst>
              <a:path w="340359" h="340360">
                <a:moveTo>
                  <a:pt x="317561" y="340248"/>
                </a:moveTo>
                <a:lnTo>
                  <a:pt x="22667" y="340248"/>
                </a:lnTo>
                <a:lnTo>
                  <a:pt x="13926" y="338470"/>
                </a:lnTo>
                <a:lnTo>
                  <a:pt x="6706" y="333618"/>
                </a:lnTo>
                <a:lnTo>
                  <a:pt x="1813" y="326412"/>
                </a:lnTo>
                <a:lnTo>
                  <a:pt x="0" y="317571"/>
                </a:lnTo>
                <a:lnTo>
                  <a:pt x="0" y="22677"/>
                </a:lnTo>
                <a:lnTo>
                  <a:pt x="1787" y="13874"/>
                </a:lnTo>
                <a:lnTo>
                  <a:pt x="6655" y="6663"/>
                </a:lnTo>
                <a:lnTo>
                  <a:pt x="13863" y="1790"/>
                </a:lnTo>
                <a:lnTo>
                  <a:pt x="22667" y="0"/>
                </a:lnTo>
                <a:lnTo>
                  <a:pt x="317561" y="0"/>
                </a:lnTo>
                <a:lnTo>
                  <a:pt x="326408" y="1790"/>
                </a:lnTo>
                <a:lnTo>
                  <a:pt x="333612" y="6663"/>
                </a:lnTo>
                <a:lnTo>
                  <a:pt x="338458" y="13874"/>
                </a:lnTo>
                <a:lnTo>
                  <a:pt x="340232" y="22677"/>
                </a:lnTo>
                <a:lnTo>
                  <a:pt x="340232" y="317571"/>
                </a:lnTo>
                <a:lnTo>
                  <a:pt x="338445" y="326412"/>
                </a:lnTo>
                <a:lnTo>
                  <a:pt x="333576" y="333618"/>
                </a:lnTo>
                <a:lnTo>
                  <a:pt x="326368" y="338470"/>
                </a:lnTo>
                <a:lnTo>
                  <a:pt x="317561" y="340248"/>
                </a:lnTo>
                <a:close/>
              </a:path>
            </a:pathLst>
          </a:custGeom>
          <a:solidFill>
            <a:srgbClr val="3A3B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7770" y="4396159"/>
            <a:ext cx="102870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spc="-325" dirty="0">
                <a:solidFill>
                  <a:srgbClr val="CFCBBE"/>
                </a:solidFill>
                <a:latin typeface="Palatino Linotype"/>
                <a:cs typeface="Palatino Linotype"/>
              </a:rPr>
              <a:t>1</a:t>
            </a:r>
            <a:endParaRPr sz="1750">
              <a:latin typeface="Palatino Linotype"/>
              <a:cs typeface="Palatino Linotyp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7904" y="4320495"/>
            <a:ext cx="3462654" cy="98996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5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Automate</a:t>
            </a:r>
            <a:r>
              <a:rPr sz="1550" spc="2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CFCBBE"/>
                </a:solidFill>
                <a:latin typeface="Palatino Linotype"/>
                <a:cs typeface="Palatino Linotype"/>
              </a:rPr>
              <a:t>KYC</a:t>
            </a:r>
            <a:r>
              <a:rPr sz="1550" spc="3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spc="95" dirty="0">
                <a:solidFill>
                  <a:srgbClr val="CFCBBE"/>
                </a:solidFill>
                <a:latin typeface="Palatino Linotype"/>
                <a:cs typeface="Palatino Linotype"/>
              </a:rPr>
              <a:t>Processes</a:t>
            </a:r>
            <a:endParaRPr sz="1550">
              <a:latin typeface="Palatino Linotype"/>
              <a:cs typeface="Palatino Linotype"/>
            </a:endParaRPr>
          </a:p>
          <a:p>
            <a:pPr marL="12700" marR="5080">
              <a:lnSpc>
                <a:spcPct val="133600"/>
              </a:lnSpc>
              <a:spcBef>
                <a:spcPts val="220"/>
              </a:spcBef>
            </a:pP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Automate</a:t>
            </a:r>
            <a:r>
              <a:rPr sz="1450" spc="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document-</a:t>
            </a:r>
            <a:r>
              <a:rPr sz="1450" spc="90" dirty="0">
                <a:solidFill>
                  <a:srgbClr val="CFCBBE"/>
                </a:solidFill>
                <a:latin typeface="Palatino Linotype"/>
                <a:cs typeface="Palatino Linotype"/>
              </a:rPr>
              <a:t>based</a:t>
            </a:r>
            <a:r>
              <a:rPr sz="1450" spc="1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25" dirty="0">
                <a:solidFill>
                  <a:srgbClr val="CFCBBE"/>
                </a:solidFill>
                <a:latin typeface="Palatino Linotype"/>
                <a:cs typeface="Palatino Linotype"/>
              </a:rPr>
              <a:t>KYC </a:t>
            </a:r>
            <a:r>
              <a:rPr sz="1450" spc="90" dirty="0">
                <a:solidFill>
                  <a:srgbClr val="CFCBBE"/>
                </a:solidFill>
                <a:latin typeface="Palatino Linotype"/>
                <a:cs typeface="Palatino Linotype"/>
              </a:rPr>
              <a:t>processes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to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85" dirty="0">
                <a:solidFill>
                  <a:srgbClr val="CFCBBE"/>
                </a:solidFill>
                <a:latin typeface="Palatino Linotype"/>
                <a:cs typeface="Palatino Linotype"/>
              </a:rPr>
              <a:t>reduce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manual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workload.</a:t>
            </a:r>
            <a:endParaRPr sz="1450">
              <a:latin typeface="Palatino Linotype"/>
              <a:cs typeface="Palatino Linotyp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71257" y="4410943"/>
            <a:ext cx="340360" cy="340360"/>
          </a:xfrm>
          <a:custGeom>
            <a:avLst/>
            <a:gdLst/>
            <a:ahLst/>
            <a:cxnLst/>
            <a:rect l="l" t="t" r="r" b="b"/>
            <a:pathLst>
              <a:path w="340360" h="340360">
                <a:moveTo>
                  <a:pt x="317571" y="340248"/>
                </a:moveTo>
                <a:lnTo>
                  <a:pt x="22677" y="340248"/>
                </a:lnTo>
                <a:lnTo>
                  <a:pt x="13925" y="338470"/>
                </a:lnTo>
                <a:lnTo>
                  <a:pt x="6702" y="333618"/>
                </a:lnTo>
                <a:lnTo>
                  <a:pt x="1811" y="326412"/>
                </a:lnTo>
                <a:lnTo>
                  <a:pt x="0" y="317571"/>
                </a:lnTo>
                <a:lnTo>
                  <a:pt x="0" y="22677"/>
                </a:lnTo>
                <a:lnTo>
                  <a:pt x="1785" y="13874"/>
                </a:lnTo>
                <a:lnTo>
                  <a:pt x="6652" y="6663"/>
                </a:lnTo>
                <a:lnTo>
                  <a:pt x="13861" y="1790"/>
                </a:lnTo>
                <a:lnTo>
                  <a:pt x="22677" y="0"/>
                </a:lnTo>
                <a:lnTo>
                  <a:pt x="317571" y="0"/>
                </a:lnTo>
                <a:lnTo>
                  <a:pt x="326407" y="1790"/>
                </a:lnTo>
                <a:lnTo>
                  <a:pt x="333603" y="6663"/>
                </a:lnTo>
                <a:lnTo>
                  <a:pt x="338445" y="13874"/>
                </a:lnTo>
                <a:lnTo>
                  <a:pt x="340217" y="22677"/>
                </a:lnTo>
                <a:lnTo>
                  <a:pt x="340217" y="317571"/>
                </a:lnTo>
                <a:lnTo>
                  <a:pt x="338432" y="326412"/>
                </a:lnTo>
                <a:lnTo>
                  <a:pt x="333569" y="333618"/>
                </a:lnTo>
                <a:lnTo>
                  <a:pt x="326368" y="338470"/>
                </a:lnTo>
                <a:lnTo>
                  <a:pt x="317571" y="340248"/>
                </a:lnTo>
                <a:close/>
              </a:path>
            </a:pathLst>
          </a:custGeom>
          <a:solidFill>
            <a:srgbClr val="3A3B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059780" y="4396159"/>
            <a:ext cx="163195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spc="150" dirty="0">
                <a:solidFill>
                  <a:srgbClr val="CFCBBE"/>
                </a:solidFill>
                <a:latin typeface="Palatino Linotype"/>
                <a:cs typeface="Palatino Linotype"/>
              </a:rPr>
              <a:t>2</a:t>
            </a:r>
            <a:endParaRPr sz="1750">
              <a:latin typeface="Palatino Linotype"/>
              <a:cs typeface="Palatino Linotyp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49956" y="4320528"/>
            <a:ext cx="3787140" cy="98996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550" spc="105" dirty="0">
                <a:solidFill>
                  <a:srgbClr val="CFCBBE"/>
                </a:solidFill>
                <a:latin typeface="Palatino Linotype"/>
                <a:cs typeface="Palatino Linotype"/>
              </a:rPr>
              <a:t>Detect</a:t>
            </a:r>
            <a:r>
              <a:rPr sz="1550" spc="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Fraudulent</a:t>
            </a:r>
            <a:r>
              <a:rPr sz="1550" spc="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spc="85" dirty="0">
                <a:solidFill>
                  <a:srgbClr val="CFCBBE"/>
                </a:solidFill>
                <a:latin typeface="Palatino Linotype"/>
                <a:cs typeface="Palatino Linotype"/>
              </a:rPr>
              <a:t>Documents</a:t>
            </a:r>
            <a:endParaRPr sz="1550">
              <a:latin typeface="Palatino Linotype"/>
              <a:cs typeface="Palatino Linotype"/>
            </a:endParaRPr>
          </a:p>
          <a:p>
            <a:pPr marL="12700" marR="5080">
              <a:lnSpc>
                <a:spcPct val="133600"/>
              </a:lnSpc>
              <a:spcBef>
                <a:spcPts val="220"/>
              </a:spcBef>
            </a:pPr>
            <a:r>
              <a:rPr sz="1450" spc="90" dirty="0">
                <a:solidFill>
                  <a:srgbClr val="CFCBBE"/>
                </a:solidFill>
                <a:latin typeface="Palatino Linotype"/>
                <a:cs typeface="Palatino Linotype"/>
              </a:rPr>
              <a:t>Detect</a:t>
            </a:r>
            <a:r>
              <a:rPr sz="1450" spc="41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and</a:t>
            </a:r>
            <a:r>
              <a:rPr sz="1450" spc="42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flag</a:t>
            </a:r>
            <a:r>
              <a:rPr sz="1450" spc="42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fraudulent</a:t>
            </a:r>
            <a:r>
              <a:rPr sz="1450" spc="42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5" dirty="0">
                <a:solidFill>
                  <a:srgbClr val="CFCBBE"/>
                </a:solidFill>
                <a:latin typeface="Palatino Linotype"/>
                <a:cs typeface="Palatino Linotype"/>
              </a:rPr>
              <a:t>or</a:t>
            </a:r>
            <a:r>
              <a:rPr sz="1450" spc="41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tampered 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documents</a:t>
            </a:r>
            <a:r>
              <a:rPr sz="1450" spc="3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with</a:t>
            </a:r>
            <a:r>
              <a:rPr sz="1450" spc="3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high</a:t>
            </a:r>
            <a:r>
              <a:rPr sz="1450" spc="4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confidence.</a:t>
            </a:r>
            <a:endParaRPr sz="1450">
              <a:latin typeface="Palatino Linotype"/>
              <a:cs typeface="Palatino Linotype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29193" y="5576102"/>
            <a:ext cx="340360" cy="340360"/>
          </a:xfrm>
          <a:custGeom>
            <a:avLst/>
            <a:gdLst/>
            <a:ahLst/>
            <a:cxnLst/>
            <a:rect l="l" t="t" r="r" b="b"/>
            <a:pathLst>
              <a:path w="340359" h="340360">
                <a:moveTo>
                  <a:pt x="317561" y="340217"/>
                </a:moveTo>
                <a:lnTo>
                  <a:pt x="22667" y="340217"/>
                </a:lnTo>
                <a:lnTo>
                  <a:pt x="13926" y="338444"/>
                </a:lnTo>
                <a:lnTo>
                  <a:pt x="6706" y="333599"/>
                </a:lnTo>
                <a:lnTo>
                  <a:pt x="1813" y="326394"/>
                </a:lnTo>
                <a:lnTo>
                  <a:pt x="0" y="317540"/>
                </a:lnTo>
                <a:lnTo>
                  <a:pt x="0" y="22646"/>
                </a:lnTo>
                <a:lnTo>
                  <a:pt x="1787" y="13848"/>
                </a:lnTo>
                <a:lnTo>
                  <a:pt x="6655" y="6648"/>
                </a:lnTo>
                <a:lnTo>
                  <a:pt x="13863" y="1785"/>
                </a:lnTo>
                <a:lnTo>
                  <a:pt x="22667" y="0"/>
                </a:lnTo>
                <a:lnTo>
                  <a:pt x="317561" y="0"/>
                </a:lnTo>
                <a:lnTo>
                  <a:pt x="326408" y="1785"/>
                </a:lnTo>
                <a:lnTo>
                  <a:pt x="333612" y="6648"/>
                </a:lnTo>
                <a:lnTo>
                  <a:pt x="338458" y="13848"/>
                </a:lnTo>
                <a:lnTo>
                  <a:pt x="340232" y="22646"/>
                </a:lnTo>
                <a:lnTo>
                  <a:pt x="340232" y="317540"/>
                </a:lnTo>
                <a:lnTo>
                  <a:pt x="338445" y="326394"/>
                </a:lnTo>
                <a:lnTo>
                  <a:pt x="333576" y="333599"/>
                </a:lnTo>
                <a:lnTo>
                  <a:pt x="326368" y="338444"/>
                </a:lnTo>
                <a:lnTo>
                  <a:pt x="317561" y="340217"/>
                </a:lnTo>
                <a:close/>
              </a:path>
            </a:pathLst>
          </a:custGeom>
          <a:solidFill>
            <a:srgbClr val="3A3B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16963" y="5561318"/>
            <a:ext cx="165100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spc="165" dirty="0">
                <a:solidFill>
                  <a:srgbClr val="CFCBBE"/>
                </a:solidFill>
                <a:latin typeface="Palatino Linotype"/>
                <a:cs typeface="Palatino Linotype"/>
              </a:rPr>
              <a:t>3</a:t>
            </a:r>
            <a:endParaRPr sz="1750">
              <a:latin typeface="Palatino Linotype"/>
              <a:cs typeface="Palatino Linotyp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75271" y="5906626"/>
            <a:ext cx="1019810" cy="2489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558800" algn="l"/>
              </a:tabLst>
            </a:pPr>
            <a:r>
              <a:rPr sz="1450" spc="-20" dirty="0">
                <a:solidFill>
                  <a:srgbClr val="CFCBBE"/>
                </a:solidFill>
                <a:latin typeface="Palatino Linotype"/>
                <a:cs typeface="Palatino Linotype"/>
              </a:rPr>
              <a:t>with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-25" dirty="0">
                <a:solidFill>
                  <a:srgbClr val="CFCBBE"/>
                </a:solidFill>
                <a:latin typeface="Palatino Linotype"/>
                <a:cs typeface="Palatino Linotype"/>
              </a:rPr>
              <a:t>AML</a:t>
            </a:r>
            <a:endParaRPr sz="1450">
              <a:latin typeface="Palatino Linotype"/>
              <a:cs typeface="Palatino Linotyp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07904" y="5511762"/>
            <a:ext cx="2635250" cy="9391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algn="just">
              <a:lnSpc>
                <a:spcPct val="133300"/>
              </a:lnSpc>
              <a:spcBef>
                <a:spcPts val="130"/>
              </a:spcBef>
            </a:pPr>
            <a:r>
              <a:rPr sz="15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Integrate</a:t>
            </a:r>
            <a:r>
              <a:rPr sz="15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CFCBBE"/>
                </a:solidFill>
                <a:latin typeface="Palatino Linotype"/>
                <a:cs typeface="Palatino Linotype"/>
              </a:rPr>
              <a:t>AML</a:t>
            </a:r>
            <a:r>
              <a:rPr sz="15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Compliance </a:t>
            </a:r>
            <a:r>
              <a:rPr sz="1450" spc="85" dirty="0">
                <a:solidFill>
                  <a:srgbClr val="CFCBBE"/>
                </a:solidFill>
                <a:latin typeface="Palatino Linotype"/>
                <a:cs typeface="Palatino Linotype"/>
              </a:rPr>
              <a:t>Ensure</a:t>
            </a:r>
            <a:r>
              <a:rPr sz="1450" spc="265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smooth</a:t>
            </a:r>
            <a:r>
              <a:rPr sz="1450" spc="270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spc="35" dirty="0">
                <a:solidFill>
                  <a:srgbClr val="CFCBBE"/>
                </a:solidFill>
                <a:latin typeface="Palatino Linotype"/>
                <a:cs typeface="Palatino Linotype"/>
              </a:rPr>
              <a:t>integration 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compliance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35" dirty="0">
                <a:solidFill>
                  <a:srgbClr val="CFCBBE"/>
                </a:solidFill>
                <a:latin typeface="Palatino Linotype"/>
                <a:cs typeface="Palatino Linotype"/>
              </a:rPr>
              <a:t>systems.</a:t>
            </a:r>
            <a:endParaRPr sz="1450">
              <a:latin typeface="Palatino Linotype"/>
              <a:cs typeface="Palatino Linotype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971257" y="5576102"/>
            <a:ext cx="340360" cy="340360"/>
          </a:xfrm>
          <a:custGeom>
            <a:avLst/>
            <a:gdLst/>
            <a:ahLst/>
            <a:cxnLst/>
            <a:rect l="l" t="t" r="r" b="b"/>
            <a:pathLst>
              <a:path w="340360" h="340360">
                <a:moveTo>
                  <a:pt x="317571" y="340217"/>
                </a:moveTo>
                <a:lnTo>
                  <a:pt x="22677" y="340217"/>
                </a:lnTo>
                <a:lnTo>
                  <a:pt x="13925" y="338444"/>
                </a:lnTo>
                <a:lnTo>
                  <a:pt x="6703" y="333599"/>
                </a:lnTo>
                <a:lnTo>
                  <a:pt x="1811" y="326394"/>
                </a:lnTo>
                <a:lnTo>
                  <a:pt x="0" y="317540"/>
                </a:lnTo>
                <a:lnTo>
                  <a:pt x="0" y="22646"/>
                </a:lnTo>
                <a:lnTo>
                  <a:pt x="1785" y="13848"/>
                </a:lnTo>
                <a:lnTo>
                  <a:pt x="6652" y="6648"/>
                </a:lnTo>
                <a:lnTo>
                  <a:pt x="13861" y="1785"/>
                </a:lnTo>
                <a:lnTo>
                  <a:pt x="22677" y="0"/>
                </a:lnTo>
                <a:lnTo>
                  <a:pt x="317571" y="0"/>
                </a:lnTo>
                <a:lnTo>
                  <a:pt x="326407" y="1785"/>
                </a:lnTo>
                <a:lnTo>
                  <a:pt x="333603" y="6648"/>
                </a:lnTo>
                <a:lnTo>
                  <a:pt x="338445" y="13848"/>
                </a:lnTo>
                <a:lnTo>
                  <a:pt x="340217" y="22646"/>
                </a:lnTo>
                <a:lnTo>
                  <a:pt x="340217" y="317540"/>
                </a:lnTo>
                <a:lnTo>
                  <a:pt x="338432" y="326394"/>
                </a:lnTo>
                <a:lnTo>
                  <a:pt x="333569" y="333599"/>
                </a:lnTo>
                <a:lnTo>
                  <a:pt x="326368" y="338444"/>
                </a:lnTo>
                <a:lnTo>
                  <a:pt x="317571" y="340217"/>
                </a:lnTo>
                <a:close/>
              </a:path>
            </a:pathLst>
          </a:custGeom>
          <a:solidFill>
            <a:srgbClr val="3A3B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062905" y="5561318"/>
            <a:ext cx="156845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spc="105" dirty="0">
                <a:solidFill>
                  <a:srgbClr val="CFCBBE"/>
                </a:solidFill>
                <a:latin typeface="Palatino Linotype"/>
                <a:cs typeface="Palatino Linotype"/>
              </a:rPr>
              <a:t>4</a:t>
            </a:r>
            <a:endParaRPr sz="1750">
              <a:latin typeface="Palatino Linotype"/>
              <a:cs typeface="Palatino Linotyp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49956" y="5511762"/>
            <a:ext cx="3787140" cy="93916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5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Deliver</a:t>
            </a:r>
            <a:r>
              <a:rPr sz="15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Reliable</a:t>
            </a:r>
            <a:r>
              <a:rPr sz="1550" spc="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Solution</a:t>
            </a:r>
            <a:endParaRPr sz="1550">
              <a:latin typeface="Palatino Linotype"/>
              <a:cs typeface="Palatino Linotype"/>
            </a:endParaRPr>
          </a:p>
          <a:p>
            <a:pPr marL="12700" marR="5080">
              <a:lnSpc>
                <a:spcPct val="133600"/>
              </a:lnSpc>
              <a:spcBef>
                <a:spcPts val="30"/>
              </a:spcBef>
            </a:pP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Deliver</a:t>
            </a:r>
            <a:r>
              <a:rPr sz="1450" spc="14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100" dirty="0">
                <a:solidFill>
                  <a:srgbClr val="CFCBBE"/>
                </a:solidFill>
                <a:latin typeface="Palatino Linotype"/>
                <a:cs typeface="Palatino Linotype"/>
              </a:rPr>
              <a:t>a</a:t>
            </a:r>
            <a:r>
              <a:rPr sz="1450" spc="1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reliable,</a:t>
            </a:r>
            <a:r>
              <a:rPr sz="1450" spc="1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scalable,</a:t>
            </a:r>
            <a:r>
              <a:rPr sz="1450" spc="1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and</a:t>
            </a:r>
            <a:r>
              <a:rPr sz="1450" spc="1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auditable 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solution.</a:t>
            </a:r>
            <a:endParaRPr sz="145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876800" y="0"/>
            <a:ext cx="4876800" cy="7315200"/>
            <a:chOff x="4876800" y="0"/>
            <a:chExt cx="4876800" cy="7315200"/>
          </a:xfrm>
        </p:grpSpPr>
        <p:pic>
          <p:nvPicPr>
            <p:cNvPr id="3" name="object 3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59484" y="6995159"/>
              <a:ext cx="1148428" cy="27431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76800" y="0"/>
              <a:ext cx="4876799" cy="73151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100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155" dirty="0"/>
              <a:t>System</a:t>
            </a:r>
            <a:r>
              <a:rPr spc="-5" dirty="0"/>
              <a:t> </a:t>
            </a:r>
            <a:r>
              <a:rPr spc="110" dirty="0"/>
              <a:t>Architecture</a:t>
            </a:r>
          </a:p>
        </p:txBody>
      </p:sp>
      <p:sp>
        <p:nvSpPr>
          <p:cNvPr id="6" name="object 6"/>
          <p:cNvSpPr/>
          <p:nvPr/>
        </p:nvSpPr>
        <p:spPr>
          <a:xfrm>
            <a:off x="462518" y="392669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2518" y="428190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2518" y="463708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62518" y="499230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16493" y="1588898"/>
            <a:ext cx="3933825" cy="4308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4615">
              <a:lnSpc>
                <a:spcPct val="133600"/>
              </a:lnSpc>
              <a:spcBef>
                <a:spcPts val="95"/>
              </a:spcBef>
              <a:tabLst>
                <a:tab pos="1113790" algn="l"/>
                <a:tab pos="2016760" algn="l"/>
                <a:tab pos="2447290" algn="l"/>
                <a:tab pos="2915920" algn="l"/>
              </a:tabLst>
            </a:pPr>
            <a:r>
              <a:rPr sz="1450" spc="60" dirty="0">
                <a:solidFill>
                  <a:srgbClr val="F4E782"/>
                </a:solidFill>
                <a:latin typeface="Palatino Linotype"/>
                <a:cs typeface="Palatino Linotype"/>
              </a:rPr>
              <a:t>Frontend:</a:t>
            </a:r>
            <a:r>
              <a:rPr sz="1450" dirty="0">
                <a:solidFill>
                  <a:srgbClr val="F4E782"/>
                </a:solidFill>
                <a:latin typeface="Palatino Linotype"/>
                <a:cs typeface="Palatino Linotype"/>
              </a:rPr>
              <a:t>	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React.js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25" dirty="0">
                <a:solidFill>
                  <a:srgbClr val="CFCBBE"/>
                </a:solidFill>
                <a:latin typeface="Palatino Linotype"/>
                <a:cs typeface="Palatino Linotype"/>
              </a:rPr>
              <a:t>UI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25" dirty="0">
                <a:solidFill>
                  <a:srgbClr val="CFCBBE"/>
                </a:solidFill>
                <a:latin typeface="Palatino Linotype"/>
                <a:cs typeface="Palatino Linotype"/>
              </a:rPr>
              <a:t>for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document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upload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5" dirty="0">
                <a:solidFill>
                  <a:srgbClr val="CFCBBE"/>
                </a:solidFill>
                <a:latin typeface="Palatino Linotype"/>
                <a:cs typeface="Palatino Linotype"/>
              </a:rPr>
              <a:t>&amp;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fraud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dashboard</a:t>
            </a:r>
            <a:endParaRPr sz="145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450">
              <a:latin typeface="Palatino Linotype"/>
              <a:cs typeface="Palatino Linotype"/>
            </a:endParaRPr>
          </a:p>
          <a:p>
            <a:pPr marL="12700" marR="94615">
              <a:lnSpc>
                <a:spcPct val="133600"/>
              </a:lnSpc>
            </a:pPr>
            <a:r>
              <a:rPr sz="1450" spc="85" dirty="0">
                <a:solidFill>
                  <a:srgbClr val="F4E782"/>
                </a:solidFill>
                <a:latin typeface="Palatino Linotype"/>
                <a:cs typeface="Palatino Linotype"/>
              </a:rPr>
              <a:t>Backend:</a:t>
            </a:r>
            <a:r>
              <a:rPr sz="1450" spc="245" dirty="0">
                <a:solidFill>
                  <a:srgbClr val="F4E782"/>
                </a:solidFill>
                <a:latin typeface="Palatino Linotype"/>
                <a:cs typeface="Palatino Linotype"/>
              </a:rPr>
              <a:t> </a:t>
            </a:r>
            <a:r>
              <a:rPr sz="1450" spc="90" dirty="0">
                <a:solidFill>
                  <a:srgbClr val="CFCBBE"/>
                </a:solidFill>
                <a:latin typeface="Palatino Linotype"/>
                <a:cs typeface="Palatino Linotype"/>
              </a:rPr>
              <a:t>Express</a:t>
            </a:r>
            <a:r>
              <a:rPr sz="1450" spc="24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APIs</a:t>
            </a:r>
            <a:r>
              <a:rPr sz="1450" spc="2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for</a:t>
            </a:r>
            <a:r>
              <a:rPr sz="1450" spc="24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model</a:t>
            </a:r>
            <a:r>
              <a:rPr sz="1450" spc="24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serving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and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fraud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35" dirty="0">
                <a:solidFill>
                  <a:srgbClr val="CFCBBE"/>
                </a:solidFill>
                <a:latin typeface="Palatino Linotype"/>
                <a:cs typeface="Palatino Linotype"/>
              </a:rPr>
              <a:t>pipeline</a:t>
            </a:r>
            <a:endParaRPr sz="145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450">
              <a:latin typeface="Palatino Linotype"/>
              <a:cs typeface="Palatino Linotype"/>
            </a:endParaRPr>
          </a:p>
          <a:p>
            <a:pPr marL="57150">
              <a:lnSpc>
                <a:spcPct val="100000"/>
              </a:lnSpc>
            </a:pPr>
            <a:r>
              <a:rPr sz="1450" dirty="0">
                <a:solidFill>
                  <a:srgbClr val="F4E782"/>
                </a:solidFill>
                <a:latin typeface="Palatino Linotype"/>
                <a:cs typeface="Palatino Linotype"/>
              </a:rPr>
              <a:t>AI</a:t>
            </a:r>
            <a:r>
              <a:rPr sz="1450" spc="-45" dirty="0">
                <a:solidFill>
                  <a:srgbClr val="F4E782"/>
                </a:solidFill>
                <a:latin typeface="Palatino Linotype"/>
                <a:cs typeface="Palatino Linotype"/>
              </a:rPr>
              <a:t> </a:t>
            </a:r>
            <a:r>
              <a:rPr sz="1450" spc="45" dirty="0">
                <a:solidFill>
                  <a:srgbClr val="F4E782"/>
                </a:solidFill>
                <a:latin typeface="Palatino Linotype"/>
                <a:cs typeface="Palatino Linotype"/>
              </a:rPr>
              <a:t>Models:</a:t>
            </a:r>
            <a:endParaRPr sz="1450">
              <a:latin typeface="Palatino Linotype"/>
              <a:cs typeface="Palatino Linotype"/>
            </a:endParaRPr>
          </a:p>
          <a:p>
            <a:pPr marL="130175" marR="507365">
              <a:lnSpc>
                <a:spcPct val="160700"/>
              </a:lnSpc>
              <a:spcBef>
                <a:spcPts val="915"/>
              </a:spcBef>
            </a:pPr>
            <a:r>
              <a:rPr sz="1450" spc="90" dirty="0">
                <a:solidFill>
                  <a:srgbClr val="CFCBBE"/>
                </a:solidFill>
                <a:latin typeface="Palatino Linotype"/>
                <a:cs typeface="Palatino Linotype"/>
              </a:rPr>
              <a:t>OCR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(Pytesseract)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for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text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extraction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CNN</a:t>
            </a:r>
            <a:r>
              <a:rPr sz="1450" spc="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for</a:t>
            </a:r>
            <a:r>
              <a:rPr sz="1450" spc="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tampering</a:t>
            </a:r>
            <a:r>
              <a:rPr sz="1450" spc="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detection</a:t>
            </a:r>
            <a:endParaRPr sz="1450">
              <a:latin typeface="Palatino Linotype"/>
              <a:cs typeface="Palatino Linotype"/>
            </a:endParaRPr>
          </a:p>
          <a:p>
            <a:pPr marL="130175" marR="541655">
              <a:lnSpc>
                <a:spcPct val="160700"/>
              </a:lnSpc>
            </a:pP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GNN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for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duplicate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identity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detection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Rule-</a:t>
            </a:r>
            <a:r>
              <a:rPr sz="1450" spc="90" dirty="0">
                <a:solidFill>
                  <a:srgbClr val="CFCBBE"/>
                </a:solidFill>
                <a:latin typeface="Palatino Linotype"/>
                <a:cs typeface="Palatino Linotype"/>
              </a:rPr>
              <a:t>based</a:t>
            </a:r>
            <a:r>
              <a:rPr sz="1450" spc="1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AML</a:t>
            </a:r>
            <a:r>
              <a:rPr sz="1450" spc="17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checks</a:t>
            </a:r>
            <a:endParaRPr sz="1450">
              <a:latin typeface="Palatino Linotype"/>
              <a:cs typeface="Palatino Linotype"/>
            </a:endParaRPr>
          </a:p>
          <a:p>
            <a:pPr marL="12700" marR="5080">
              <a:lnSpc>
                <a:spcPct val="133600"/>
              </a:lnSpc>
              <a:spcBef>
                <a:spcPts val="1405"/>
              </a:spcBef>
            </a:pPr>
            <a:r>
              <a:rPr sz="1450" spc="80" dirty="0">
                <a:solidFill>
                  <a:srgbClr val="F4E782"/>
                </a:solidFill>
                <a:latin typeface="Palatino Linotype"/>
                <a:cs typeface="Palatino Linotype"/>
              </a:rPr>
              <a:t>Database:</a:t>
            </a:r>
            <a:r>
              <a:rPr sz="1450" spc="10" dirty="0">
                <a:solidFill>
                  <a:srgbClr val="F4E782"/>
                </a:solidFill>
                <a:latin typeface="Palatino Linotype"/>
                <a:cs typeface="Palatino Linotype"/>
              </a:rPr>
              <a:t> </a:t>
            </a:r>
            <a:r>
              <a:rPr sz="1450" spc="85" dirty="0">
                <a:solidFill>
                  <a:srgbClr val="CFCBBE"/>
                </a:solidFill>
                <a:latin typeface="Palatino Linotype"/>
                <a:cs typeface="Palatino Linotype"/>
              </a:rPr>
              <a:t>MongoDB</a:t>
            </a:r>
            <a:r>
              <a:rPr sz="1450" spc="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for</a:t>
            </a:r>
            <a:r>
              <a:rPr sz="1450" spc="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Users,</a:t>
            </a:r>
            <a:r>
              <a:rPr sz="1450" spc="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Documents, 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Fraud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Results</a:t>
            </a:r>
            <a:endParaRPr sz="145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96000" y="0"/>
            <a:ext cx="3657600" cy="7315200"/>
            <a:chOff x="6096000" y="0"/>
            <a:chExt cx="3657600" cy="7315200"/>
          </a:xfrm>
        </p:grpSpPr>
        <p:pic>
          <p:nvPicPr>
            <p:cNvPr id="3" name="object 3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59484" y="6995159"/>
              <a:ext cx="1148428" cy="27431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6000" y="0"/>
              <a:ext cx="3657599" cy="73151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ts val="3679"/>
              </a:lnSpc>
              <a:spcBef>
                <a:spcPts val="75"/>
              </a:spcBef>
            </a:pPr>
            <a:r>
              <a:rPr spc="125" dirty="0"/>
              <a:t>Milestone</a:t>
            </a:r>
            <a:r>
              <a:rPr spc="-25" dirty="0"/>
              <a:t> </a:t>
            </a:r>
            <a:r>
              <a:rPr spc="-459" dirty="0"/>
              <a:t>1</a:t>
            </a:r>
            <a:r>
              <a:rPr spc="-20" dirty="0"/>
              <a:t> </a:t>
            </a:r>
            <a:r>
              <a:rPr spc="409" dirty="0"/>
              <a:t>–</a:t>
            </a:r>
            <a:r>
              <a:rPr spc="-20" dirty="0"/>
              <a:t> </a:t>
            </a:r>
            <a:r>
              <a:rPr spc="150" dirty="0"/>
              <a:t>Data </a:t>
            </a:r>
            <a:r>
              <a:rPr spc="110" dirty="0"/>
              <a:t>Collection</a:t>
            </a:r>
            <a:r>
              <a:rPr spc="-20" dirty="0"/>
              <a:t> </a:t>
            </a:r>
            <a:r>
              <a:rPr spc="114" dirty="0"/>
              <a:t>&amp;</a:t>
            </a:r>
            <a:r>
              <a:rPr spc="-20" dirty="0"/>
              <a:t> </a:t>
            </a:r>
            <a:r>
              <a:rPr spc="135" dirty="0"/>
              <a:t>Preprocessing</a:t>
            </a:r>
          </a:p>
        </p:txBody>
      </p:sp>
      <p:sp>
        <p:nvSpPr>
          <p:cNvPr id="6" name="object 6"/>
          <p:cNvSpPr/>
          <p:nvPr/>
        </p:nvSpPr>
        <p:spPr>
          <a:xfrm>
            <a:off x="462518" y="308579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2518" y="344099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2518" y="409853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16493" y="1537664"/>
            <a:ext cx="5063490" cy="269684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550" spc="60" dirty="0">
                <a:solidFill>
                  <a:srgbClr val="F4E782"/>
                </a:solidFill>
                <a:latin typeface="Palatino Linotype"/>
                <a:cs typeface="Palatino Linotype"/>
              </a:rPr>
              <a:t>Objective:</a:t>
            </a:r>
            <a:endParaRPr sz="1550">
              <a:latin typeface="Palatino Linotype"/>
              <a:cs typeface="Palatino Linotype"/>
            </a:endParaRPr>
          </a:p>
          <a:p>
            <a:pPr marL="12700" marR="5080">
              <a:lnSpc>
                <a:spcPts val="2330"/>
              </a:lnSpc>
              <a:spcBef>
                <a:spcPts val="80"/>
              </a:spcBef>
            </a:pP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Build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spc="100" dirty="0">
                <a:solidFill>
                  <a:srgbClr val="CFCBBE"/>
                </a:solidFill>
                <a:latin typeface="Palatino Linotype"/>
                <a:cs typeface="Palatino Linotype"/>
              </a:rPr>
              <a:t>a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reliable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pipeline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for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document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ingestion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and 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structured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data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extraction.</a:t>
            </a:r>
            <a:endParaRPr sz="14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550" dirty="0">
                <a:solidFill>
                  <a:srgbClr val="F4E782"/>
                </a:solidFill>
                <a:latin typeface="Palatino Linotype"/>
                <a:cs typeface="Palatino Linotype"/>
              </a:rPr>
              <a:t>Key</a:t>
            </a:r>
            <a:r>
              <a:rPr sz="1550" spc="110" dirty="0">
                <a:solidFill>
                  <a:srgbClr val="F4E782"/>
                </a:solidFill>
                <a:latin typeface="Palatino Linotype"/>
                <a:cs typeface="Palatino Linotype"/>
              </a:rPr>
              <a:t> </a:t>
            </a:r>
            <a:r>
              <a:rPr sz="1550" spc="45" dirty="0">
                <a:solidFill>
                  <a:srgbClr val="F4E782"/>
                </a:solidFill>
                <a:latin typeface="Palatino Linotype"/>
                <a:cs typeface="Palatino Linotype"/>
              </a:rPr>
              <a:t>Contributions:</a:t>
            </a:r>
            <a:endParaRPr sz="1550">
              <a:latin typeface="Palatino Linotype"/>
              <a:cs typeface="Palatino Linotype"/>
            </a:endParaRPr>
          </a:p>
          <a:p>
            <a:pPr marL="130175">
              <a:lnSpc>
                <a:spcPct val="100000"/>
              </a:lnSpc>
              <a:spcBef>
                <a:spcPts val="980"/>
              </a:spcBef>
            </a:pP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Labeled</a:t>
            </a:r>
            <a:r>
              <a:rPr sz="1450" spc="1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160" dirty="0">
                <a:solidFill>
                  <a:srgbClr val="CFCBBE"/>
                </a:solidFill>
                <a:latin typeface="Palatino Linotype"/>
                <a:cs typeface="Palatino Linotype"/>
              </a:rPr>
              <a:t>20+</a:t>
            </a:r>
            <a:r>
              <a:rPr sz="1450" spc="1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synthetic</a:t>
            </a:r>
            <a:r>
              <a:rPr sz="1450" spc="2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Aadhaar</a:t>
            </a:r>
            <a:r>
              <a:rPr sz="1450" spc="1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and</a:t>
            </a:r>
            <a:r>
              <a:rPr sz="1450" spc="1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utility</a:t>
            </a:r>
            <a:r>
              <a:rPr sz="1450" spc="2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bill</a:t>
            </a:r>
            <a:r>
              <a:rPr sz="1450" spc="1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samples.</a:t>
            </a:r>
            <a:endParaRPr sz="1450">
              <a:latin typeface="Palatino Linotype"/>
              <a:cs typeface="Palatino Linotype"/>
            </a:endParaRPr>
          </a:p>
          <a:p>
            <a:pPr marL="130175" marR="5080">
              <a:lnSpc>
                <a:spcPct val="133600"/>
              </a:lnSpc>
              <a:spcBef>
                <a:spcPts val="470"/>
              </a:spcBef>
              <a:tabLst>
                <a:tab pos="999490" algn="l"/>
                <a:tab pos="2197100" algn="l"/>
                <a:tab pos="2796540" algn="l"/>
                <a:tab pos="3350895" algn="l"/>
                <a:tab pos="4791710" algn="l"/>
              </a:tabLst>
            </a:pP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Applied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Pytesseract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OCR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-20" dirty="0">
                <a:solidFill>
                  <a:srgbClr val="CFCBBE"/>
                </a:solidFill>
                <a:latin typeface="Palatino Linotype"/>
                <a:cs typeface="Palatino Linotype"/>
              </a:rPr>
              <a:t>with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preprocessing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25" dirty="0">
                <a:solidFill>
                  <a:srgbClr val="CFCBBE"/>
                </a:solidFill>
                <a:latin typeface="Palatino Linotype"/>
                <a:cs typeface="Palatino Linotype"/>
              </a:rPr>
              <a:t>for 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accuracy.</a:t>
            </a:r>
            <a:endParaRPr sz="1450">
              <a:latin typeface="Palatino Linotype"/>
              <a:cs typeface="Palatino Linotype"/>
            </a:endParaRPr>
          </a:p>
          <a:p>
            <a:pPr marL="130175">
              <a:lnSpc>
                <a:spcPct val="100000"/>
              </a:lnSpc>
              <a:spcBef>
                <a:spcPts val="1115"/>
              </a:spcBef>
            </a:pPr>
            <a:r>
              <a:rPr sz="1450" spc="75" dirty="0">
                <a:solidFill>
                  <a:srgbClr val="CFCBBE"/>
                </a:solidFill>
                <a:latin typeface="Palatino Linotype"/>
                <a:cs typeface="Palatino Linotype"/>
              </a:rPr>
              <a:t>Structured</a:t>
            </a:r>
            <a:r>
              <a:rPr sz="1450" spc="114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output</a:t>
            </a:r>
            <a:r>
              <a:rPr sz="1450" spc="12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into</a:t>
            </a:r>
            <a:r>
              <a:rPr sz="1450" spc="114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105" dirty="0">
                <a:solidFill>
                  <a:srgbClr val="CFCBBE"/>
                </a:solidFill>
                <a:latin typeface="Palatino Linotype"/>
                <a:cs typeface="Palatino Linotype"/>
              </a:rPr>
              <a:t>JSON/CSV</a:t>
            </a:r>
            <a:r>
              <a:rPr sz="1450" spc="12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40" dirty="0">
                <a:solidFill>
                  <a:srgbClr val="CFCBBE"/>
                </a:solidFill>
                <a:latin typeface="Palatino Linotype"/>
                <a:cs typeface="Palatino Linotype"/>
              </a:rPr>
              <a:t>formats.</a:t>
            </a:r>
            <a:endParaRPr sz="1450">
              <a:latin typeface="Palatino Linotype"/>
              <a:cs typeface="Palatino Linotype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2518" y="445375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811922" y="4340563"/>
            <a:ext cx="3767454" cy="2489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19405" algn="l"/>
                <a:tab pos="990600" algn="l"/>
                <a:tab pos="1820545" algn="l"/>
                <a:tab pos="2820670" algn="l"/>
                <a:tab pos="3280410" algn="l"/>
              </a:tabLst>
            </a:pP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a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basic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40" dirty="0">
                <a:solidFill>
                  <a:srgbClr val="CFCBBE"/>
                </a:solidFill>
                <a:latin typeface="Palatino Linotype"/>
                <a:cs typeface="Palatino Linotype"/>
              </a:rPr>
              <a:t>upload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interface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25" dirty="0">
                <a:solidFill>
                  <a:srgbClr val="CFCBBE"/>
                </a:solidFill>
                <a:latin typeface="Palatino Linotype"/>
                <a:cs typeface="Palatino Linotype"/>
              </a:rPr>
              <a:t>for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input</a:t>
            </a:r>
            <a:endParaRPr sz="1450">
              <a:latin typeface="Palatino Linotype"/>
              <a:cs typeface="Palatino Linotyp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6493" y="4268745"/>
            <a:ext cx="1128395" cy="10045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0175" marR="5080">
              <a:lnSpc>
                <a:spcPct val="133600"/>
              </a:lnSpc>
              <a:spcBef>
                <a:spcPts val="95"/>
              </a:spcBef>
            </a:pP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Developed 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simulation.</a:t>
            </a:r>
            <a:endParaRPr sz="14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1550" spc="75" dirty="0">
                <a:solidFill>
                  <a:srgbClr val="F4E782"/>
                </a:solidFill>
                <a:latin typeface="Palatino Linotype"/>
                <a:cs typeface="Palatino Linotype"/>
              </a:rPr>
              <a:t>Outcome:</a:t>
            </a:r>
            <a:endParaRPr sz="1550">
              <a:latin typeface="Palatino Linotype"/>
              <a:cs typeface="Palatino Linotyp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6493" y="5393883"/>
            <a:ext cx="5062855" cy="615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95"/>
              </a:spcBef>
            </a:pPr>
            <a:r>
              <a:rPr sz="1450" spc="120" dirty="0">
                <a:solidFill>
                  <a:srgbClr val="CFCBBE"/>
                </a:solidFill>
                <a:latin typeface="Palatino Linotype"/>
                <a:cs typeface="Palatino Linotype"/>
              </a:rPr>
              <a:t>95%</a:t>
            </a:r>
            <a:r>
              <a:rPr sz="1450" spc="459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text</a:t>
            </a:r>
            <a:r>
              <a:rPr sz="1450" spc="4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extraction</a:t>
            </a:r>
            <a:r>
              <a:rPr sz="1450" spc="4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90" dirty="0">
                <a:solidFill>
                  <a:srgbClr val="CFCBBE"/>
                </a:solidFill>
                <a:latin typeface="Palatino Linotype"/>
                <a:cs typeface="Palatino Linotype"/>
              </a:rPr>
              <a:t>accuracy</a:t>
            </a:r>
            <a:r>
              <a:rPr sz="1450" spc="4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with</a:t>
            </a:r>
            <a:r>
              <a:rPr sz="1450" spc="4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100" dirty="0">
                <a:solidFill>
                  <a:srgbClr val="CFCBBE"/>
                </a:solidFill>
                <a:latin typeface="Palatino Linotype"/>
                <a:cs typeface="Palatino Linotype"/>
              </a:rPr>
              <a:t>a</a:t>
            </a:r>
            <a:r>
              <a:rPr sz="1450" spc="4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robust,</a:t>
            </a:r>
            <a:r>
              <a:rPr sz="1450" spc="4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scalable </a:t>
            </a:r>
            <a:r>
              <a:rPr sz="1450" spc="90" dirty="0">
                <a:solidFill>
                  <a:srgbClr val="CFCBBE"/>
                </a:solidFill>
                <a:latin typeface="Palatino Linotype"/>
                <a:cs typeface="Palatino Linotype"/>
              </a:rPr>
              <a:t>OCR</a:t>
            </a:r>
            <a:r>
              <a:rPr sz="1450" spc="-1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pipeline.</a:t>
            </a:r>
            <a:endParaRPr sz="145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657599" cy="73151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74093" y="421142"/>
            <a:ext cx="3999865" cy="134747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3520"/>
              </a:lnSpc>
              <a:spcBef>
                <a:spcPts val="50"/>
              </a:spcBef>
            </a:pPr>
            <a:r>
              <a:rPr sz="2800" spc="114" dirty="0"/>
              <a:t>Milestone</a:t>
            </a:r>
            <a:r>
              <a:rPr sz="2800" spc="-50" dirty="0"/>
              <a:t> </a:t>
            </a:r>
            <a:r>
              <a:rPr sz="2800" spc="305" dirty="0"/>
              <a:t>2</a:t>
            </a:r>
            <a:r>
              <a:rPr sz="2800" spc="-45" dirty="0"/>
              <a:t> </a:t>
            </a:r>
            <a:r>
              <a:rPr sz="2800" spc="390" dirty="0"/>
              <a:t>–</a:t>
            </a:r>
            <a:r>
              <a:rPr sz="2800" spc="-45" dirty="0"/>
              <a:t> </a:t>
            </a:r>
            <a:r>
              <a:rPr sz="2800" dirty="0"/>
              <a:t>AI</a:t>
            </a:r>
            <a:r>
              <a:rPr sz="2800" spc="-50" dirty="0"/>
              <a:t> </a:t>
            </a:r>
            <a:r>
              <a:rPr sz="2800" spc="100" dirty="0"/>
              <a:t>Model </a:t>
            </a:r>
            <a:r>
              <a:rPr sz="2800" spc="120" dirty="0"/>
              <a:t>Development</a:t>
            </a:r>
            <a:r>
              <a:rPr sz="2800" spc="-20" dirty="0"/>
              <a:t> </a:t>
            </a:r>
            <a:r>
              <a:rPr sz="2800" spc="105" dirty="0"/>
              <a:t>&amp;</a:t>
            </a:r>
            <a:r>
              <a:rPr sz="2800" spc="-15" dirty="0"/>
              <a:t> </a:t>
            </a:r>
            <a:r>
              <a:rPr sz="2800" spc="125" dirty="0"/>
              <a:t>Fraud </a:t>
            </a:r>
            <a:r>
              <a:rPr sz="2800" spc="135" dirty="0"/>
              <a:t>Detection</a:t>
            </a:r>
            <a:endParaRPr sz="2800"/>
          </a:p>
        </p:txBody>
      </p:sp>
      <p:sp>
        <p:nvSpPr>
          <p:cNvPr id="4" name="object 4"/>
          <p:cNvSpPr/>
          <p:nvPr/>
        </p:nvSpPr>
        <p:spPr>
          <a:xfrm>
            <a:off x="4120118" y="329180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20118" y="393981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20118" y="456459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20118" y="521915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20118" y="63471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pc="60" dirty="0"/>
              <a:t>Objective:</a:t>
            </a:r>
          </a:p>
          <a:p>
            <a:pPr marL="12700" marR="5080">
              <a:lnSpc>
                <a:spcPts val="2330"/>
              </a:lnSpc>
              <a:spcBef>
                <a:spcPts val="75"/>
              </a:spcBef>
              <a:tabLst>
                <a:tab pos="981710" algn="l"/>
                <a:tab pos="1328420" algn="l"/>
                <a:tab pos="1648460" algn="l"/>
                <a:tab pos="2352040" algn="l"/>
                <a:tab pos="3442970" algn="l"/>
                <a:tab pos="4335780" algn="l"/>
                <a:tab pos="4650740" algn="l"/>
              </a:tabLst>
            </a:pPr>
            <a:r>
              <a:rPr sz="1450" spc="50" dirty="0">
                <a:solidFill>
                  <a:srgbClr val="CFCBBE"/>
                </a:solidFill>
              </a:rPr>
              <a:t>Leverage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-25" dirty="0">
                <a:solidFill>
                  <a:srgbClr val="CFCBBE"/>
                </a:solidFill>
              </a:rPr>
              <a:t>AI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35" dirty="0">
                <a:solidFill>
                  <a:srgbClr val="CFCBBE"/>
                </a:solidFill>
              </a:rPr>
              <a:t>to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70" dirty="0">
                <a:solidFill>
                  <a:srgbClr val="CFCBBE"/>
                </a:solidFill>
              </a:rPr>
              <a:t>detect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40" dirty="0">
                <a:solidFill>
                  <a:srgbClr val="CFCBBE"/>
                </a:solidFill>
              </a:rPr>
              <a:t>fraudulent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55" dirty="0">
                <a:solidFill>
                  <a:srgbClr val="CFCBBE"/>
                </a:solidFill>
              </a:rPr>
              <a:t>patterns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-25" dirty="0">
                <a:solidFill>
                  <a:srgbClr val="CFCBBE"/>
                </a:solidFill>
              </a:rPr>
              <a:t>in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-25" dirty="0">
                <a:solidFill>
                  <a:srgbClr val="CFCBBE"/>
                </a:solidFill>
              </a:rPr>
              <a:t>KYC </a:t>
            </a:r>
            <a:r>
              <a:rPr sz="1450" spc="60" dirty="0">
                <a:solidFill>
                  <a:srgbClr val="CFCBBE"/>
                </a:solidFill>
              </a:rPr>
              <a:t>documents.</a:t>
            </a:r>
            <a:endParaRPr sz="1450"/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/>
              <a:t>Key</a:t>
            </a:r>
            <a:r>
              <a:rPr spc="110" dirty="0"/>
              <a:t> </a:t>
            </a:r>
            <a:r>
              <a:rPr spc="45" dirty="0"/>
              <a:t>Contributions:</a:t>
            </a:r>
          </a:p>
          <a:p>
            <a:pPr marL="130810" marR="5080">
              <a:lnSpc>
                <a:spcPct val="137900"/>
              </a:lnSpc>
              <a:spcBef>
                <a:spcPts val="250"/>
              </a:spcBef>
            </a:pPr>
            <a:r>
              <a:rPr sz="1450" spc="65" dirty="0">
                <a:solidFill>
                  <a:srgbClr val="CFCBBE"/>
                </a:solidFill>
              </a:rPr>
              <a:t>NLP</a:t>
            </a:r>
            <a:r>
              <a:rPr sz="1450" spc="140" dirty="0">
                <a:solidFill>
                  <a:srgbClr val="CFCBBE"/>
                </a:solidFill>
              </a:rPr>
              <a:t> </a:t>
            </a:r>
            <a:r>
              <a:rPr sz="1450" spc="60" dirty="0">
                <a:solidFill>
                  <a:srgbClr val="CFCBBE"/>
                </a:solidFill>
              </a:rPr>
              <a:t>Models:</a:t>
            </a:r>
            <a:r>
              <a:rPr sz="1450" spc="145" dirty="0">
                <a:solidFill>
                  <a:srgbClr val="CFCBBE"/>
                </a:solidFill>
              </a:rPr>
              <a:t> </a:t>
            </a:r>
            <a:r>
              <a:rPr sz="1450" spc="70" dirty="0">
                <a:solidFill>
                  <a:srgbClr val="CFCBBE"/>
                </a:solidFill>
              </a:rPr>
              <a:t>Trained</a:t>
            </a:r>
            <a:r>
              <a:rPr sz="1450" spc="145" dirty="0">
                <a:solidFill>
                  <a:srgbClr val="CFCBBE"/>
                </a:solidFill>
              </a:rPr>
              <a:t> </a:t>
            </a:r>
            <a:r>
              <a:rPr sz="1450" dirty="0">
                <a:solidFill>
                  <a:srgbClr val="CFCBBE"/>
                </a:solidFill>
              </a:rPr>
              <a:t>with</a:t>
            </a:r>
            <a:r>
              <a:rPr sz="1450" spc="140" dirty="0">
                <a:solidFill>
                  <a:srgbClr val="CFCBBE"/>
                </a:solidFill>
              </a:rPr>
              <a:t> </a:t>
            </a:r>
            <a:r>
              <a:rPr sz="1450" dirty="0">
                <a:solidFill>
                  <a:srgbClr val="CFCBBE"/>
                </a:solidFill>
              </a:rPr>
              <a:t>Azure</a:t>
            </a:r>
            <a:r>
              <a:rPr sz="1450" spc="145" dirty="0">
                <a:solidFill>
                  <a:srgbClr val="CFCBBE"/>
                </a:solidFill>
              </a:rPr>
              <a:t> </a:t>
            </a:r>
            <a:r>
              <a:rPr sz="1450" spc="55" dirty="0">
                <a:solidFill>
                  <a:srgbClr val="CFCBBE"/>
                </a:solidFill>
              </a:rPr>
              <a:t>OpenAI</a:t>
            </a:r>
            <a:r>
              <a:rPr sz="1450" spc="145" dirty="0">
                <a:solidFill>
                  <a:srgbClr val="CFCBBE"/>
                </a:solidFill>
              </a:rPr>
              <a:t> </a:t>
            </a:r>
            <a:r>
              <a:rPr sz="1450" spc="50" dirty="0">
                <a:solidFill>
                  <a:srgbClr val="CFCBBE"/>
                </a:solidFill>
              </a:rPr>
              <a:t>+</a:t>
            </a:r>
            <a:r>
              <a:rPr sz="1450" spc="140" dirty="0">
                <a:solidFill>
                  <a:srgbClr val="CFCBBE"/>
                </a:solidFill>
              </a:rPr>
              <a:t> </a:t>
            </a:r>
            <a:r>
              <a:rPr sz="1450" dirty="0">
                <a:solidFill>
                  <a:srgbClr val="CFCBBE"/>
                </a:solidFill>
              </a:rPr>
              <a:t>rule-</a:t>
            </a:r>
            <a:r>
              <a:rPr sz="1450" spc="75" dirty="0">
                <a:solidFill>
                  <a:srgbClr val="CFCBBE"/>
                </a:solidFill>
              </a:rPr>
              <a:t>based </a:t>
            </a:r>
            <a:r>
              <a:rPr sz="1450" dirty="0">
                <a:solidFill>
                  <a:srgbClr val="CFCBBE"/>
                </a:solidFill>
              </a:rPr>
              <a:t>logic</a:t>
            </a:r>
            <a:r>
              <a:rPr sz="1450" spc="120" dirty="0">
                <a:solidFill>
                  <a:srgbClr val="CFCBBE"/>
                </a:solidFill>
              </a:rPr>
              <a:t> </a:t>
            </a:r>
            <a:r>
              <a:rPr sz="1450" spc="50" dirty="0">
                <a:solidFill>
                  <a:srgbClr val="CFCBBE"/>
                </a:solidFill>
              </a:rPr>
              <a:t>for</a:t>
            </a:r>
            <a:r>
              <a:rPr sz="1450" spc="120" dirty="0">
                <a:solidFill>
                  <a:srgbClr val="CFCBBE"/>
                </a:solidFill>
              </a:rPr>
              <a:t> </a:t>
            </a:r>
            <a:r>
              <a:rPr sz="1450" dirty="0">
                <a:solidFill>
                  <a:srgbClr val="CFCBBE"/>
                </a:solidFill>
              </a:rPr>
              <a:t>entity</a:t>
            </a:r>
            <a:r>
              <a:rPr sz="1450" spc="120" dirty="0">
                <a:solidFill>
                  <a:srgbClr val="CFCBBE"/>
                </a:solidFill>
              </a:rPr>
              <a:t> </a:t>
            </a:r>
            <a:r>
              <a:rPr sz="1450" spc="35" dirty="0">
                <a:solidFill>
                  <a:srgbClr val="CFCBBE"/>
                </a:solidFill>
              </a:rPr>
              <a:t>matching.</a:t>
            </a:r>
            <a:endParaRPr sz="1450"/>
          </a:p>
          <a:p>
            <a:pPr marL="130810" marR="5080">
              <a:lnSpc>
                <a:spcPct val="137900"/>
              </a:lnSpc>
              <a:spcBef>
                <a:spcPts val="300"/>
              </a:spcBef>
            </a:pPr>
            <a:r>
              <a:rPr sz="1450" spc="70" dirty="0">
                <a:solidFill>
                  <a:srgbClr val="CFCBBE"/>
                </a:solidFill>
              </a:rPr>
              <a:t>Graph</a:t>
            </a:r>
            <a:r>
              <a:rPr sz="1450" spc="380" dirty="0">
                <a:solidFill>
                  <a:srgbClr val="CFCBBE"/>
                </a:solidFill>
              </a:rPr>
              <a:t> </a:t>
            </a:r>
            <a:r>
              <a:rPr sz="1450" dirty="0">
                <a:solidFill>
                  <a:srgbClr val="CFCBBE"/>
                </a:solidFill>
              </a:rPr>
              <a:t>Neural</a:t>
            </a:r>
            <a:r>
              <a:rPr sz="1450" spc="380" dirty="0">
                <a:solidFill>
                  <a:srgbClr val="CFCBBE"/>
                </a:solidFill>
              </a:rPr>
              <a:t> </a:t>
            </a:r>
            <a:r>
              <a:rPr sz="1450" dirty="0">
                <a:solidFill>
                  <a:srgbClr val="CFCBBE"/>
                </a:solidFill>
              </a:rPr>
              <a:t>Networks:</a:t>
            </a:r>
            <a:r>
              <a:rPr sz="1450" spc="385" dirty="0">
                <a:solidFill>
                  <a:srgbClr val="CFCBBE"/>
                </a:solidFill>
              </a:rPr>
              <a:t> </a:t>
            </a:r>
            <a:r>
              <a:rPr sz="1450" spc="50" dirty="0">
                <a:solidFill>
                  <a:srgbClr val="CFCBBE"/>
                </a:solidFill>
              </a:rPr>
              <a:t>Built</a:t>
            </a:r>
            <a:r>
              <a:rPr sz="1450" spc="380" dirty="0">
                <a:solidFill>
                  <a:srgbClr val="CFCBBE"/>
                </a:solidFill>
              </a:rPr>
              <a:t> </a:t>
            </a:r>
            <a:r>
              <a:rPr sz="1450" spc="60" dirty="0">
                <a:solidFill>
                  <a:srgbClr val="CFCBBE"/>
                </a:solidFill>
              </a:rPr>
              <a:t>to</a:t>
            </a:r>
            <a:r>
              <a:rPr sz="1450" spc="385" dirty="0">
                <a:solidFill>
                  <a:srgbClr val="CFCBBE"/>
                </a:solidFill>
              </a:rPr>
              <a:t> </a:t>
            </a:r>
            <a:r>
              <a:rPr sz="1450" spc="80" dirty="0">
                <a:solidFill>
                  <a:srgbClr val="CFCBBE"/>
                </a:solidFill>
              </a:rPr>
              <a:t>detect</a:t>
            </a:r>
            <a:r>
              <a:rPr sz="1450" spc="380" dirty="0">
                <a:solidFill>
                  <a:srgbClr val="CFCBBE"/>
                </a:solidFill>
              </a:rPr>
              <a:t> </a:t>
            </a:r>
            <a:r>
              <a:rPr sz="1450" dirty="0">
                <a:solidFill>
                  <a:srgbClr val="CFCBBE"/>
                </a:solidFill>
              </a:rPr>
              <a:t>identity</a:t>
            </a:r>
            <a:r>
              <a:rPr sz="1450" spc="385" dirty="0">
                <a:solidFill>
                  <a:srgbClr val="CFCBBE"/>
                </a:solidFill>
              </a:rPr>
              <a:t> </a:t>
            </a:r>
            <a:r>
              <a:rPr sz="1450" spc="-10" dirty="0">
                <a:solidFill>
                  <a:srgbClr val="CFCBBE"/>
                </a:solidFill>
              </a:rPr>
              <a:t>links </a:t>
            </a:r>
            <a:r>
              <a:rPr sz="1450" spc="70" dirty="0">
                <a:solidFill>
                  <a:srgbClr val="CFCBBE"/>
                </a:solidFill>
              </a:rPr>
              <a:t>and</a:t>
            </a:r>
            <a:r>
              <a:rPr sz="1450" dirty="0">
                <a:solidFill>
                  <a:srgbClr val="CFCBBE"/>
                </a:solidFill>
              </a:rPr>
              <a:t> </a:t>
            </a:r>
            <a:r>
              <a:rPr sz="1450" spc="50" dirty="0">
                <a:solidFill>
                  <a:srgbClr val="CFCBBE"/>
                </a:solidFill>
              </a:rPr>
              <a:t>duplication</a:t>
            </a:r>
            <a:r>
              <a:rPr sz="1450" dirty="0">
                <a:solidFill>
                  <a:srgbClr val="CFCBBE"/>
                </a:solidFill>
              </a:rPr>
              <a:t> </a:t>
            </a:r>
            <a:r>
              <a:rPr sz="1450" spc="45" dirty="0">
                <a:solidFill>
                  <a:srgbClr val="CFCBBE"/>
                </a:solidFill>
              </a:rPr>
              <a:t>patterns.</a:t>
            </a:r>
            <a:endParaRPr sz="1450"/>
          </a:p>
          <a:p>
            <a:pPr marL="130810" marR="5080">
              <a:lnSpc>
                <a:spcPct val="137900"/>
              </a:lnSpc>
              <a:spcBef>
                <a:spcPts val="120"/>
              </a:spcBef>
            </a:pPr>
            <a:r>
              <a:rPr sz="1450" spc="85" dirty="0">
                <a:solidFill>
                  <a:srgbClr val="CFCBBE"/>
                </a:solidFill>
              </a:rPr>
              <a:t>Fraud</a:t>
            </a:r>
            <a:r>
              <a:rPr sz="1450" spc="285" dirty="0">
                <a:solidFill>
                  <a:srgbClr val="CFCBBE"/>
                </a:solidFill>
              </a:rPr>
              <a:t> </a:t>
            </a:r>
            <a:r>
              <a:rPr sz="1450" spc="75" dirty="0">
                <a:solidFill>
                  <a:srgbClr val="CFCBBE"/>
                </a:solidFill>
              </a:rPr>
              <a:t>Scoring</a:t>
            </a:r>
            <a:r>
              <a:rPr sz="1450" spc="290" dirty="0">
                <a:solidFill>
                  <a:srgbClr val="CFCBBE"/>
                </a:solidFill>
              </a:rPr>
              <a:t> </a:t>
            </a:r>
            <a:r>
              <a:rPr sz="1450" spc="50" dirty="0">
                <a:solidFill>
                  <a:srgbClr val="CFCBBE"/>
                </a:solidFill>
              </a:rPr>
              <a:t>Engine:</a:t>
            </a:r>
            <a:r>
              <a:rPr sz="1450" spc="290" dirty="0">
                <a:solidFill>
                  <a:srgbClr val="CFCBBE"/>
                </a:solidFill>
              </a:rPr>
              <a:t> </a:t>
            </a:r>
            <a:r>
              <a:rPr sz="1450" spc="45" dirty="0">
                <a:solidFill>
                  <a:srgbClr val="CFCBBE"/>
                </a:solidFill>
              </a:rPr>
              <a:t>Classified</a:t>
            </a:r>
            <a:r>
              <a:rPr sz="1450" spc="290" dirty="0">
                <a:solidFill>
                  <a:srgbClr val="CFCBBE"/>
                </a:solidFill>
              </a:rPr>
              <a:t> </a:t>
            </a:r>
            <a:r>
              <a:rPr sz="1450" dirty="0">
                <a:solidFill>
                  <a:srgbClr val="CFCBBE"/>
                </a:solidFill>
              </a:rPr>
              <a:t>risk</a:t>
            </a:r>
            <a:r>
              <a:rPr sz="1450" spc="290" dirty="0">
                <a:solidFill>
                  <a:srgbClr val="CFCBBE"/>
                </a:solidFill>
              </a:rPr>
              <a:t> </a:t>
            </a:r>
            <a:r>
              <a:rPr sz="1450" dirty="0">
                <a:solidFill>
                  <a:srgbClr val="CFCBBE"/>
                </a:solidFill>
              </a:rPr>
              <a:t>levels</a:t>
            </a:r>
            <a:r>
              <a:rPr sz="1450" spc="290" dirty="0">
                <a:solidFill>
                  <a:srgbClr val="CFCBBE"/>
                </a:solidFill>
              </a:rPr>
              <a:t> </a:t>
            </a:r>
            <a:r>
              <a:rPr sz="1450" dirty="0">
                <a:solidFill>
                  <a:srgbClr val="CFCBBE"/>
                </a:solidFill>
              </a:rPr>
              <a:t>into</a:t>
            </a:r>
            <a:r>
              <a:rPr sz="1450" spc="290" dirty="0">
                <a:solidFill>
                  <a:srgbClr val="CFCBBE"/>
                </a:solidFill>
              </a:rPr>
              <a:t> </a:t>
            </a:r>
            <a:r>
              <a:rPr sz="1450" spc="-20" dirty="0">
                <a:solidFill>
                  <a:srgbClr val="CFCBBE"/>
                </a:solidFill>
              </a:rPr>
              <a:t>Low, </a:t>
            </a:r>
            <a:r>
              <a:rPr sz="1450" spc="55" dirty="0">
                <a:solidFill>
                  <a:srgbClr val="CFCBBE"/>
                </a:solidFill>
              </a:rPr>
              <a:t>Medium,</a:t>
            </a:r>
            <a:r>
              <a:rPr sz="1450" spc="-10" dirty="0">
                <a:solidFill>
                  <a:srgbClr val="CFCBBE"/>
                </a:solidFill>
              </a:rPr>
              <a:t> </a:t>
            </a:r>
            <a:r>
              <a:rPr sz="1450" spc="70" dirty="0">
                <a:solidFill>
                  <a:srgbClr val="CFCBBE"/>
                </a:solidFill>
              </a:rPr>
              <a:t>and</a:t>
            </a:r>
            <a:r>
              <a:rPr sz="1450" spc="-5" dirty="0">
                <a:solidFill>
                  <a:srgbClr val="CFCBBE"/>
                </a:solidFill>
              </a:rPr>
              <a:t> </a:t>
            </a:r>
            <a:r>
              <a:rPr sz="1450" spc="-20" dirty="0">
                <a:solidFill>
                  <a:srgbClr val="CFCBBE"/>
                </a:solidFill>
              </a:rPr>
              <a:t>High.</a:t>
            </a:r>
            <a:endParaRPr sz="1450"/>
          </a:p>
          <a:p>
            <a:pPr marL="130810" marR="5080">
              <a:lnSpc>
                <a:spcPct val="137900"/>
              </a:lnSpc>
              <a:spcBef>
                <a:spcPts val="355"/>
              </a:spcBef>
              <a:tabLst>
                <a:tab pos="1252855" algn="l"/>
                <a:tab pos="2463165" algn="l"/>
                <a:tab pos="3827779" algn="l"/>
                <a:tab pos="4238625" algn="l"/>
              </a:tabLst>
            </a:pPr>
            <a:r>
              <a:rPr sz="1450" spc="50" dirty="0">
                <a:solidFill>
                  <a:srgbClr val="CFCBBE"/>
                </a:solidFill>
              </a:rPr>
              <a:t>Interactive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65" dirty="0">
                <a:solidFill>
                  <a:srgbClr val="CFCBBE"/>
                </a:solidFill>
              </a:rPr>
              <a:t>Dashboard: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60" dirty="0">
                <a:solidFill>
                  <a:srgbClr val="CFCBBE"/>
                </a:solidFill>
              </a:rPr>
              <a:t>Implemented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25" dirty="0">
                <a:solidFill>
                  <a:srgbClr val="CFCBBE"/>
                </a:solidFill>
              </a:rPr>
              <a:t>for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55" dirty="0">
                <a:solidFill>
                  <a:srgbClr val="CFCBBE"/>
                </a:solidFill>
              </a:rPr>
              <a:t>real-</a:t>
            </a:r>
            <a:r>
              <a:rPr sz="1450" spc="40" dirty="0">
                <a:solidFill>
                  <a:srgbClr val="CFCBBE"/>
                </a:solidFill>
              </a:rPr>
              <a:t>time </a:t>
            </a:r>
            <a:r>
              <a:rPr sz="1450" spc="50" dirty="0">
                <a:solidFill>
                  <a:srgbClr val="CFCBBE"/>
                </a:solidFill>
              </a:rPr>
              <a:t>fraud</a:t>
            </a:r>
            <a:r>
              <a:rPr sz="1450" dirty="0">
                <a:solidFill>
                  <a:srgbClr val="CFCBBE"/>
                </a:solidFill>
              </a:rPr>
              <a:t> </a:t>
            </a:r>
            <a:r>
              <a:rPr sz="1450" spc="50" dirty="0">
                <a:solidFill>
                  <a:srgbClr val="CFCBBE"/>
                </a:solidFill>
              </a:rPr>
              <a:t>analytics</a:t>
            </a:r>
            <a:r>
              <a:rPr sz="1450" spc="5" dirty="0">
                <a:solidFill>
                  <a:srgbClr val="CFCBBE"/>
                </a:solidFill>
              </a:rPr>
              <a:t> </a:t>
            </a:r>
            <a:r>
              <a:rPr sz="1450" spc="70" dirty="0">
                <a:solidFill>
                  <a:srgbClr val="CFCBBE"/>
                </a:solidFill>
              </a:rPr>
              <a:t>and</a:t>
            </a:r>
            <a:r>
              <a:rPr sz="1450" spc="5" dirty="0">
                <a:solidFill>
                  <a:srgbClr val="CFCBBE"/>
                </a:solidFill>
              </a:rPr>
              <a:t> </a:t>
            </a:r>
            <a:r>
              <a:rPr sz="1450" spc="-10" dirty="0">
                <a:solidFill>
                  <a:srgbClr val="CFCBBE"/>
                </a:solidFill>
              </a:rPr>
              <a:t>insights.</a:t>
            </a:r>
            <a:endParaRPr sz="1450"/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pc="40" dirty="0"/>
              <a:t>Result:</a:t>
            </a:r>
          </a:p>
          <a:p>
            <a:pPr marL="130810" marR="5080">
              <a:lnSpc>
                <a:spcPct val="137900"/>
              </a:lnSpc>
              <a:spcBef>
                <a:spcPts val="935"/>
              </a:spcBef>
            </a:pPr>
            <a:r>
              <a:rPr sz="1450" dirty="0">
                <a:solidFill>
                  <a:srgbClr val="CFCBBE"/>
                </a:solidFill>
              </a:rPr>
              <a:t>Achieved</a:t>
            </a:r>
            <a:r>
              <a:rPr sz="1450" spc="285" dirty="0">
                <a:solidFill>
                  <a:srgbClr val="CFCBBE"/>
                </a:solidFill>
              </a:rPr>
              <a:t> </a:t>
            </a:r>
            <a:r>
              <a:rPr sz="1450" spc="120" dirty="0">
                <a:solidFill>
                  <a:srgbClr val="CFCBBE"/>
                </a:solidFill>
              </a:rPr>
              <a:t>&gt;90%</a:t>
            </a:r>
            <a:r>
              <a:rPr sz="1450" spc="285" dirty="0">
                <a:solidFill>
                  <a:srgbClr val="CFCBBE"/>
                </a:solidFill>
              </a:rPr>
              <a:t> </a:t>
            </a:r>
            <a:r>
              <a:rPr sz="1450" spc="50" dirty="0">
                <a:solidFill>
                  <a:srgbClr val="CFCBBE"/>
                </a:solidFill>
              </a:rPr>
              <a:t>fraud</a:t>
            </a:r>
            <a:r>
              <a:rPr sz="1450" spc="290" dirty="0">
                <a:solidFill>
                  <a:srgbClr val="CFCBBE"/>
                </a:solidFill>
              </a:rPr>
              <a:t> </a:t>
            </a:r>
            <a:r>
              <a:rPr sz="1450" spc="70" dirty="0">
                <a:solidFill>
                  <a:srgbClr val="CFCBBE"/>
                </a:solidFill>
              </a:rPr>
              <a:t>detection</a:t>
            </a:r>
            <a:r>
              <a:rPr sz="1450" spc="285" dirty="0">
                <a:solidFill>
                  <a:srgbClr val="CFCBBE"/>
                </a:solidFill>
              </a:rPr>
              <a:t> </a:t>
            </a:r>
            <a:r>
              <a:rPr sz="1450" spc="90" dirty="0">
                <a:solidFill>
                  <a:srgbClr val="CFCBBE"/>
                </a:solidFill>
              </a:rPr>
              <a:t>accuracy</a:t>
            </a:r>
            <a:r>
              <a:rPr sz="1450" spc="285" dirty="0">
                <a:solidFill>
                  <a:srgbClr val="CFCBBE"/>
                </a:solidFill>
              </a:rPr>
              <a:t> </a:t>
            </a:r>
            <a:r>
              <a:rPr sz="1450" spc="50" dirty="0">
                <a:solidFill>
                  <a:srgbClr val="CFCBBE"/>
                </a:solidFill>
              </a:rPr>
              <a:t>for</a:t>
            </a:r>
            <a:r>
              <a:rPr sz="1450" spc="290" dirty="0">
                <a:solidFill>
                  <a:srgbClr val="CFCBBE"/>
                </a:solidFill>
              </a:rPr>
              <a:t> </a:t>
            </a:r>
            <a:r>
              <a:rPr sz="1450" spc="70" dirty="0">
                <a:solidFill>
                  <a:srgbClr val="CFCBBE"/>
                </a:solidFill>
              </a:rPr>
              <a:t>scalable </a:t>
            </a:r>
            <a:r>
              <a:rPr sz="1450" dirty="0">
                <a:solidFill>
                  <a:srgbClr val="CFCBBE"/>
                </a:solidFill>
              </a:rPr>
              <a:t>risk</a:t>
            </a:r>
            <a:r>
              <a:rPr sz="1450" spc="135" dirty="0">
                <a:solidFill>
                  <a:srgbClr val="CFCBBE"/>
                </a:solidFill>
              </a:rPr>
              <a:t> </a:t>
            </a:r>
            <a:r>
              <a:rPr sz="1450" spc="60" dirty="0">
                <a:solidFill>
                  <a:srgbClr val="CFCBBE"/>
                </a:solidFill>
              </a:rPr>
              <a:t>assessment.</a:t>
            </a:r>
            <a:endParaRPr sz="14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96000" y="0"/>
            <a:ext cx="3657600" cy="7315200"/>
            <a:chOff x="6096000" y="0"/>
            <a:chExt cx="3657600" cy="7315200"/>
          </a:xfrm>
        </p:grpSpPr>
        <p:pic>
          <p:nvPicPr>
            <p:cNvPr id="3" name="object 3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59484" y="6995159"/>
              <a:ext cx="1148428" cy="27431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6000" y="0"/>
              <a:ext cx="3657599" cy="73151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ts val="3679"/>
              </a:lnSpc>
              <a:spcBef>
                <a:spcPts val="75"/>
              </a:spcBef>
            </a:pPr>
            <a:r>
              <a:rPr spc="125" dirty="0"/>
              <a:t>Milestone</a:t>
            </a:r>
            <a:r>
              <a:rPr spc="-20" dirty="0"/>
              <a:t> </a:t>
            </a:r>
            <a:r>
              <a:rPr spc="350" dirty="0"/>
              <a:t>3</a:t>
            </a:r>
            <a:r>
              <a:rPr spc="-20" dirty="0"/>
              <a:t> </a:t>
            </a:r>
            <a:r>
              <a:rPr spc="409" dirty="0"/>
              <a:t>–</a:t>
            </a:r>
            <a:r>
              <a:rPr spc="-20" dirty="0"/>
              <a:t> </a:t>
            </a:r>
            <a:r>
              <a:rPr spc="80" dirty="0"/>
              <a:t>AML/KYC </a:t>
            </a:r>
            <a:r>
              <a:rPr spc="140" dirty="0"/>
              <a:t>Compliance</a:t>
            </a:r>
            <a:r>
              <a:rPr spc="-15" dirty="0"/>
              <a:t> </a:t>
            </a:r>
            <a:r>
              <a:rPr spc="95" dirty="0"/>
              <a:t>Integration</a:t>
            </a:r>
          </a:p>
        </p:txBody>
      </p:sp>
      <p:sp>
        <p:nvSpPr>
          <p:cNvPr id="6" name="object 6"/>
          <p:cNvSpPr/>
          <p:nvPr/>
        </p:nvSpPr>
        <p:spPr>
          <a:xfrm>
            <a:off x="462518" y="321251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2518" y="361472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2518" y="400536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62518" y="434813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2518" y="570096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16493" y="1537664"/>
            <a:ext cx="5312410" cy="459486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550" spc="60" dirty="0">
                <a:solidFill>
                  <a:srgbClr val="F4E782"/>
                </a:solidFill>
                <a:latin typeface="Palatino Linotype"/>
                <a:cs typeface="Palatino Linotype"/>
              </a:rPr>
              <a:t>Objective:</a:t>
            </a:r>
            <a:endParaRPr sz="1550">
              <a:latin typeface="Palatino Linotype"/>
              <a:cs typeface="Palatino Linotype"/>
            </a:endParaRPr>
          </a:p>
          <a:p>
            <a:pPr marL="12700" marR="254000">
              <a:lnSpc>
                <a:spcPts val="2330"/>
              </a:lnSpc>
              <a:spcBef>
                <a:spcPts val="80"/>
              </a:spcBef>
            </a:pPr>
            <a:r>
              <a:rPr sz="1450" spc="110" dirty="0">
                <a:solidFill>
                  <a:srgbClr val="CFCBBE"/>
                </a:solidFill>
                <a:latin typeface="Palatino Linotype"/>
                <a:cs typeface="Palatino Linotype"/>
              </a:rPr>
              <a:t>Embed</a:t>
            </a:r>
            <a:r>
              <a:rPr sz="1450" spc="3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AI</a:t>
            </a:r>
            <a:r>
              <a:rPr sz="1450" spc="3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verification</a:t>
            </a:r>
            <a:r>
              <a:rPr sz="1450" spc="37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into</a:t>
            </a:r>
            <a:r>
              <a:rPr sz="1450" spc="3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live</a:t>
            </a:r>
            <a:r>
              <a:rPr sz="1450" spc="37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AML/KYC</a:t>
            </a:r>
            <a:r>
              <a:rPr sz="1450" spc="3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compliance 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workflows.</a:t>
            </a:r>
            <a:endParaRPr sz="1450">
              <a:latin typeface="Palatino Linotype"/>
              <a:cs typeface="Palatino Linotype"/>
            </a:endParaRPr>
          </a:p>
          <a:p>
            <a:pPr marL="12700" algn="just">
              <a:lnSpc>
                <a:spcPct val="100000"/>
              </a:lnSpc>
              <a:spcBef>
                <a:spcPts val="1610"/>
              </a:spcBef>
            </a:pPr>
            <a:r>
              <a:rPr sz="1550" dirty="0">
                <a:solidFill>
                  <a:srgbClr val="F4E782"/>
                </a:solidFill>
                <a:latin typeface="Palatino Linotype"/>
                <a:cs typeface="Palatino Linotype"/>
              </a:rPr>
              <a:t>Key</a:t>
            </a:r>
            <a:r>
              <a:rPr sz="1550" spc="110" dirty="0">
                <a:solidFill>
                  <a:srgbClr val="F4E782"/>
                </a:solidFill>
                <a:latin typeface="Palatino Linotype"/>
                <a:cs typeface="Palatino Linotype"/>
              </a:rPr>
              <a:t> </a:t>
            </a:r>
            <a:r>
              <a:rPr sz="1550" spc="45" dirty="0">
                <a:solidFill>
                  <a:srgbClr val="F4E782"/>
                </a:solidFill>
                <a:latin typeface="Palatino Linotype"/>
                <a:cs typeface="Palatino Linotype"/>
              </a:rPr>
              <a:t>Contributions:</a:t>
            </a:r>
            <a:endParaRPr sz="1550">
              <a:latin typeface="Palatino Linotype"/>
              <a:cs typeface="Palatino Linotype"/>
            </a:endParaRPr>
          </a:p>
          <a:p>
            <a:pPr marL="130175" marR="260985" algn="just">
              <a:lnSpc>
                <a:spcPct val="179400"/>
              </a:lnSpc>
              <a:spcBef>
                <a:spcPts val="345"/>
              </a:spcBef>
            </a:pP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Developed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145" dirty="0">
                <a:solidFill>
                  <a:srgbClr val="CFCBBE"/>
                </a:solidFill>
                <a:latin typeface="Palatino Linotype"/>
                <a:cs typeface="Palatino Linotype"/>
              </a:rPr>
              <a:t>REST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APIs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for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real-time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identity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validation.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Built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async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pipelines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to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trigger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fraud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alerts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by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risk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level.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Implemented</a:t>
            </a:r>
            <a:r>
              <a:rPr sz="1450" spc="7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10" dirty="0">
                <a:solidFill>
                  <a:srgbClr val="CFCBBE"/>
                </a:solidFill>
                <a:latin typeface="Palatino Linotype"/>
                <a:cs typeface="Palatino Linotype"/>
              </a:rPr>
              <a:t>audit</a:t>
            </a:r>
            <a:r>
              <a:rPr sz="1450" spc="7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10" dirty="0">
                <a:solidFill>
                  <a:srgbClr val="CFCBBE"/>
                </a:solidFill>
                <a:latin typeface="Palatino Linotype"/>
                <a:cs typeface="Palatino Linotype"/>
              </a:rPr>
              <a:t>logging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for</a:t>
            </a:r>
            <a:r>
              <a:rPr sz="1450" spc="7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10" dirty="0">
                <a:solidFill>
                  <a:srgbClr val="CFCBBE"/>
                </a:solidFill>
                <a:latin typeface="Palatino Linotype"/>
                <a:cs typeface="Palatino Linotype"/>
              </a:rPr>
              <a:t>regulatory</a:t>
            </a:r>
            <a:r>
              <a:rPr sz="1450" spc="7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35" dirty="0">
                <a:solidFill>
                  <a:srgbClr val="CFCBBE"/>
                </a:solidFill>
                <a:latin typeface="Palatino Linotype"/>
                <a:cs typeface="Palatino Linotype"/>
              </a:rPr>
              <a:t>traceability.</a:t>
            </a:r>
            <a:endParaRPr sz="1450">
              <a:latin typeface="Palatino Linotype"/>
              <a:cs typeface="Palatino Linotype"/>
            </a:endParaRPr>
          </a:p>
          <a:p>
            <a:pPr marL="130175" marR="254000" algn="just">
              <a:lnSpc>
                <a:spcPct val="133600"/>
              </a:lnSpc>
              <a:spcBef>
                <a:spcPts val="375"/>
              </a:spcBef>
            </a:pP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Designed</a:t>
            </a:r>
            <a:r>
              <a:rPr sz="1450" spc="155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spc="100" dirty="0">
                <a:solidFill>
                  <a:srgbClr val="CFCBBE"/>
                </a:solidFill>
                <a:latin typeface="Palatino Linotype"/>
                <a:cs typeface="Palatino Linotype"/>
              </a:rPr>
              <a:t>a</a:t>
            </a:r>
            <a:r>
              <a:rPr sz="1450" spc="160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compliance</a:t>
            </a:r>
            <a:r>
              <a:rPr sz="1450" spc="160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spc="75" dirty="0">
                <a:solidFill>
                  <a:srgbClr val="CFCBBE"/>
                </a:solidFill>
                <a:latin typeface="Palatino Linotype"/>
                <a:cs typeface="Palatino Linotype"/>
              </a:rPr>
              <a:t>dashboard</a:t>
            </a:r>
            <a:r>
              <a:rPr sz="1450" spc="155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with</a:t>
            </a:r>
            <a:r>
              <a:rPr sz="1450" spc="160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document 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status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and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35" dirty="0">
                <a:solidFill>
                  <a:srgbClr val="CFCBBE"/>
                </a:solidFill>
                <a:latin typeface="Palatino Linotype"/>
                <a:cs typeface="Palatino Linotype"/>
              </a:rPr>
              <a:t>alerts.</a:t>
            </a:r>
            <a:endParaRPr sz="145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14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</a:pPr>
            <a:r>
              <a:rPr sz="1550" spc="40" dirty="0">
                <a:solidFill>
                  <a:srgbClr val="F4E782"/>
                </a:solidFill>
                <a:latin typeface="Palatino Linotype"/>
                <a:cs typeface="Palatino Linotype"/>
              </a:rPr>
              <a:t>Result:</a:t>
            </a:r>
            <a:endParaRPr sz="1550">
              <a:latin typeface="Palatino Linotype"/>
              <a:cs typeface="Palatino Linotype"/>
            </a:endParaRPr>
          </a:p>
          <a:p>
            <a:pPr marL="130175" marR="5080">
              <a:lnSpc>
                <a:spcPct val="133600"/>
              </a:lnSpc>
              <a:spcBef>
                <a:spcPts val="1160"/>
              </a:spcBef>
            </a:pP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Integrated</a:t>
            </a:r>
            <a:r>
              <a:rPr sz="1450" spc="23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fraud</a:t>
            </a:r>
            <a:r>
              <a:rPr sz="1450" spc="24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detection</a:t>
            </a:r>
            <a:r>
              <a:rPr sz="1450" spc="23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into</a:t>
            </a:r>
            <a:r>
              <a:rPr sz="1450" spc="24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AML</a:t>
            </a:r>
            <a:r>
              <a:rPr sz="1450" spc="23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systems,</a:t>
            </a:r>
            <a:r>
              <a:rPr sz="1450" spc="24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enhancing 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compliance</a:t>
            </a:r>
            <a:r>
              <a:rPr sz="1450" spc="2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visibility</a:t>
            </a:r>
            <a:r>
              <a:rPr sz="1450" spc="2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and</a:t>
            </a:r>
            <a:r>
              <a:rPr sz="1450" spc="2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35" dirty="0">
                <a:solidFill>
                  <a:srgbClr val="CFCBBE"/>
                </a:solidFill>
                <a:latin typeface="Palatino Linotype"/>
                <a:cs typeface="Palatino Linotype"/>
              </a:rPr>
              <a:t>efficiency.</a:t>
            </a:r>
            <a:endParaRPr sz="145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657599" cy="73151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74093" y="480378"/>
            <a:ext cx="4773930" cy="9442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ts val="3670"/>
              </a:lnSpc>
              <a:spcBef>
                <a:spcPts val="95"/>
              </a:spcBef>
            </a:pPr>
            <a:r>
              <a:rPr spc="125" dirty="0"/>
              <a:t>Milestone</a:t>
            </a:r>
            <a:r>
              <a:rPr spc="-25" dirty="0"/>
              <a:t> </a:t>
            </a:r>
            <a:r>
              <a:rPr spc="250" dirty="0"/>
              <a:t>4</a:t>
            </a:r>
            <a:r>
              <a:rPr spc="-20" dirty="0"/>
              <a:t> </a:t>
            </a:r>
            <a:r>
              <a:rPr spc="409" dirty="0"/>
              <a:t>–</a:t>
            </a:r>
            <a:r>
              <a:rPr spc="-20" dirty="0"/>
              <a:t> </a:t>
            </a:r>
            <a:r>
              <a:rPr spc="145" dirty="0"/>
              <a:t>System </a:t>
            </a:r>
            <a:r>
              <a:rPr spc="105" dirty="0"/>
              <a:t>Integration</a:t>
            </a:r>
            <a:r>
              <a:rPr spc="-30" dirty="0"/>
              <a:t> </a:t>
            </a:r>
            <a:r>
              <a:rPr spc="114" dirty="0"/>
              <a:t>&amp;</a:t>
            </a:r>
            <a:r>
              <a:rPr spc="-25" dirty="0"/>
              <a:t> </a:t>
            </a:r>
            <a:r>
              <a:rPr spc="114" dirty="0"/>
              <a:t>Deployment</a:t>
            </a:r>
          </a:p>
        </p:txBody>
      </p:sp>
      <p:sp>
        <p:nvSpPr>
          <p:cNvPr id="4" name="object 4"/>
          <p:cNvSpPr/>
          <p:nvPr/>
        </p:nvSpPr>
        <p:spPr>
          <a:xfrm>
            <a:off x="4120118" y="30196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20118" y="367721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20118" y="433475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20118" y="499230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20118" y="623951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174093" y="1479758"/>
            <a:ext cx="5063490" cy="519112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550" spc="60" dirty="0">
                <a:solidFill>
                  <a:srgbClr val="F4E782"/>
                </a:solidFill>
                <a:latin typeface="Palatino Linotype"/>
                <a:cs typeface="Palatino Linotype"/>
              </a:rPr>
              <a:t>Objective:</a:t>
            </a:r>
            <a:endParaRPr sz="1550">
              <a:latin typeface="Palatino Linotype"/>
              <a:cs typeface="Palatino Linotype"/>
            </a:endParaRPr>
          </a:p>
          <a:p>
            <a:pPr marL="12700" marR="5080">
              <a:lnSpc>
                <a:spcPts val="2330"/>
              </a:lnSpc>
              <a:spcBef>
                <a:spcPts val="80"/>
              </a:spcBef>
            </a:pP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Deploy</a:t>
            </a:r>
            <a:r>
              <a:rPr sz="1450" spc="10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100" dirty="0">
                <a:solidFill>
                  <a:srgbClr val="CFCBBE"/>
                </a:solidFill>
                <a:latin typeface="Palatino Linotype"/>
                <a:cs typeface="Palatino Linotype"/>
              </a:rPr>
              <a:t>a</a:t>
            </a:r>
            <a:r>
              <a:rPr sz="1450" spc="1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production-ready</a:t>
            </a:r>
            <a:r>
              <a:rPr sz="1450" spc="1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full-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stack</a:t>
            </a:r>
            <a:r>
              <a:rPr sz="1450" spc="1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AI</a:t>
            </a:r>
            <a:r>
              <a:rPr sz="1450" spc="1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fraud</a:t>
            </a:r>
            <a:r>
              <a:rPr sz="1450" spc="10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detection 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system</a:t>
            </a:r>
            <a:r>
              <a:rPr sz="1450" spc="2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with</a:t>
            </a:r>
            <a:r>
              <a:rPr sz="1450" spc="2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real-time</a:t>
            </a:r>
            <a:r>
              <a:rPr sz="1450" spc="2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analytics.</a:t>
            </a:r>
            <a:endParaRPr sz="14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550" dirty="0">
                <a:solidFill>
                  <a:srgbClr val="F4E782"/>
                </a:solidFill>
                <a:latin typeface="Palatino Linotype"/>
                <a:cs typeface="Palatino Linotype"/>
              </a:rPr>
              <a:t>Key</a:t>
            </a:r>
            <a:r>
              <a:rPr sz="1550" spc="110" dirty="0">
                <a:solidFill>
                  <a:srgbClr val="F4E782"/>
                </a:solidFill>
                <a:latin typeface="Palatino Linotype"/>
                <a:cs typeface="Palatino Linotype"/>
              </a:rPr>
              <a:t> </a:t>
            </a:r>
            <a:r>
              <a:rPr sz="1550" spc="45" dirty="0">
                <a:solidFill>
                  <a:srgbClr val="F4E782"/>
                </a:solidFill>
                <a:latin typeface="Palatino Linotype"/>
                <a:cs typeface="Palatino Linotype"/>
              </a:rPr>
              <a:t>Contributions:</a:t>
            </a:r>
            <a:endParaRPr sz="1550">
              <a:latin typeface="Palatino Linotype"/>
              <a:cs typeface="Palatino Linotype"/>
            </a:endParaRPr>
          </a:p>
          <a:p>
            <a:pPr marL="130175" marR="5080">
              <a:lnSpc>
                <a:spcPct val="133600"/>
              </a:lnSpc>
              <a:spcBef>
                <a:spcPts val="475"/>
              </a:spcBef>
              <a:tabLst>
                <a:tab pos="738505" algn="l"/>
                <a:tab pos="1312545" algn="l"/>
                <a:tab pos="2219960" algn="l"/>
                <a:tab pos="3353435" algn="l"/>
                <a:tab pos="4011929" algn="l"/>
                <a:tab pos="4395470" algn="l"/>
              </a:tabLst>
            </a:pP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Built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final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35" dirty="0">
                <a:solidFill>
                  <a:srgbClr val="CFCBBE"/>
                </a:solidFill>
                <a:latin typeface="Palatino Linotype"/>
                <a:cs typeface="Palatino Linotype"/>
              </a:rPr>
              <a:t>pipeline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combining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40" dirty="0">
                <a:solidFill>
                  <a:srgbClr val="CFCBBE"/>
                </a:solidFill>
                <a:latin typeface="Palatino Linotype"/>
                <a:cs typeface="Palatino Linotype"/>
              </a:rPr>
              <a:t>OCR,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-25" dirty="0">
                <a:solidFill>
                  <a:srgbClr val="CFCBBE"/>
                </a:solidFill>
                <a:latin typeface="Palatino Linotype"/>
                <a:cs typeface="Palatino Linotype"/>
              </a:rPr>
              <a:t>AI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models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(CNN/GNN),</a:t>
            </a:r>
            <a:r>
              <a:rPr sz="1450" spc="10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and</a:t>
            </a:r>
            <a:r>
              <a:rPr sz="1450" spc="10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AML</a:t>
            </a:r>
            <a:r>
              <a:rPr sz="1450" spc="10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rules.</a:t>
            </a:r>
            <a:endParaRPr sz="1450">
              <a:latin typeface="Palatino Linotype"/>
              <a:cs typeface="Palatino Linotype"/>
            </a:endParaRPr>
          </a:p>
          <a:p>
            <a:pPr marL="130175" marR="5080">
              <a:lnSpc>
                <a:spcPct val="133600"/>
              </a:lnSpc>
              <a:spcBef>
                <a:spcPts val="525"/>
              </a:spcBef>
            </a:pP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Developed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145" dirty="0">
                <a:solidFill>
                  <a:srgbClr val="CFCBBE"/>
                </a:solidFill>
                <a:latin typeface="Palatino Linotype"/>
                <a:cs typeface="Palatino Linotype"/>
              </a:rPr>
              <a:t>REST</a:t>
            </a:r>
            <a:r>
              <a:rPr sz="1450" spc="8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APIs</a:t>
            </a:r>
            <a:r>
              <a:rPr sz="1450" spc="8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for</a:t>
            </a:r>
            <a:r>
              <a:rPr sz="1450" spc="8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document</a:t>
            </a:r>
            <a:r>
              <a:rPr sz="1450" spc="8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upload</a:t>
            </a:r>
            <a:r>
              <a:rPr sz="1450" spc="8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and</a:t>
            </a:r>
            <a:r>
              <a:rPr sz="1450" spc="8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40" dirty="0">
                <a:solidFill>
                  <a:srgbClr val="CFCBBE"/>
                </a:solidFill>
                <a:latin typeface="Palatino Linotype"/>
                <a:cs typeface="Palatino Linotype"/>
              </a:rPr>
              <a:t>fraud 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analysis.</a:t>
            </a:r>
            <a:endParaRPr sz="1450">
              <a:latin typeface="Palatino Linotype"/>
              <a:cs typeface="Palatino Linotype"/>
            </a:endParaRPr>
          </a:p>
          <a:p>
            <a:pPr marL="130175" marR="5080">
              <a:lnSpc>
                <a:spcPct val="133600"/>
              </a:lnSpc>
              <a:spcBef>
                <a:spcPts val="530"/>
              </a:spcBef>
            </a:pP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Integrated</a:t>
            </a:r>
            <a:r>
              <a:rPr sz="1450" spc="2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frontend</a:t>
            </a:r>
            <a:r>
              <a:rPr sz="1450" spc="2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to</a:t>
            </a:r>
            <a:r>
              <a:rPr sz="1450" spc="2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show</a:t>
            </a:r>
            <a:r>
              <a:rPr sz="1450" spc="2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fraud</a:t>
            </a:r>
            <a:r>
              <a:rPr sz="1450" spc="254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5" dirty="0">
                <a:solidFill>
                  <a:srgbClr val="CFCBBE"/>
                </a:solidFill>
                <a:latin typeface="Palatino Linotype"/>
                <a:cs typeface="Palatino Linotype"/>
              </a:rPr>
              <a:t>scores,</a:t>
            </a:r>
            <a:r>
              <a:rPr sz="1450" spc="2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labels,</a:t>
            </a:r>
            <a:r>
              <a:rPr sz="1450" spc="2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and 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reasons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(e.g.,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“Tampered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image”).</a:t>
            </a:r>
            <a:endParaRPr sz="1450">
              <a:latin typeface="Palatino Linotype"/>
              <a:cs typeface="Palatino Linotype"/>
            </a:endParaRPr>
          </a:p>
          <a:p>
            <a:pPr marL="130175" marR="5080">
              <a:lnSpc>
                <a:spcPct val="133600"/>
              </a:lnSpc>
              <a:spcBef>
                <a:spcPts val="530"/>
              </a:spcBef>
              <a:tabLst>
                <a:tab pos="1160145" algn="l"/>
                <a:tab pos="1939289" algn="l"/>
                <a:tab pos="2355215" algn="l"/>
                <a:tab pos="3177540" algn="l"/>
                <a:tab pos="3678554" algn="l"/>
                <a:tab pos="4660900" algn="l"/>
              </a:tabLst>
            </a:pP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Deployed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system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-25" dirty="0">
                <a:solidFill>
                  <a:srgbClr val="CFCBBE"/>
                </a:solidFill>
                <a:latin typeface="Palatino Linotype"/>
                <a:cs typeface="Palatino Linotype"/>
              </a:rPr>
              <a:t>via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Docker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and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validated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-20" dirty="0">
                <a:solidFill>
                  <a:srgbClr val="CFCBBE"/>
                </a:solidFill>
                <a:latin typeface="Palatino Linotype"/>
                <a:cs typeface="Palatino Linotype"/>
              </a:rPr>
              <a:t>with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multiple</a:t>
            </a:r>
            <a:r>
              <a:rPr sz="1450" spc="14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fraud</a:t>
            </a:r>
            <a:r>
              <a:rPr sz="1450" spc="14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scenarios.</a:t>
            </a:r>
            <a:endParaRPr sz="145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4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50" spc="40" dirty="0">
                <a:solidFill>
                  <a:srgbClr val="F4E782"/>
                </a:solidFill>
                <a:latin typeface="Palatino Linotype"/>
                <a:cs typeface="Palatino Linotype"/>
              </a:rPr>
              <a:t>Result:</a:t>
            </a:r>
            <a:endParaRPr sz="1550">
              <a:latin typeface="Palatino Linotype"/>
              <a:cs typeface="Palatino Linotype"/>
            </a:endParaRPr>
          </a:p>
          <a:p>
            <a:pPr marL="130175" marR="5080">
              <a:lnSpc>
                <a:spcPct val="133600"/>
              </a:lnSpc>
              <a:spcBef>
                <a:spcPts val="1155"/>
              </a:spcBef>
              <a:tabLst>
                <a:tab pos="1150620" algn="l"/>
                <a:tab pos="1397000" algn="l"/>
                <a:tab pos="2390775" algn="l"/>
                <a:tab pos="3576320" algn="l"/>
                <a:tab pos="4205605" algn="l"/>
              </a:tabLst>
            </a:pP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Delivered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a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real-</a:t>
            </a:r>
            <a:r>
              <a:rPr sz="1450" spc="-20" dirty="0">
                <a:solidFill>
                  <a:srgbClr val="CFCBBE"/>
                </a:solidFill>
                <a:latin typeface="Palatino Linotype"/>
                <a:cs typeface="Palatino Linotype"/>
              </a:rPr>
              <a:t>time,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explainable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40" dirty="0">
                <a:solidFill>
                  <a:srgbClr val="CFCBBE"/>
                </a:solidFill>
                <a:latin typeface="Palatino Linotype"/>
                <a:cs typeface="Palatino Linotype"/>
              </a:rPr>
              <a:t>fraud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detection 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system</a:t>
            </a:r>
            <a:r>
              <a:rPr sz="1450" spc="1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with</a:t>
            </a:r>
            <a:r>
              <a:rPr sz="1450" spc="2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5" dirty="0">
                <a:solidFill>
                  <a:srgbClr val="CFCBBE"/>
                </a:solidFill>
                <a:latin typeface="Palatino Linotype"/>
                <a:cs typeface="Palatino Linotype"/>
              </a:rPr>
              <a:t>dashboards</a:t>
            </a:r>
            <a:r>
              <a:rPr sz="1450" spc="1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and</a:t>
            </a:r>
            <a:r>
              <a:rPr sz="1450" spc="2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compliance</a:t>
            </a:r>
            <a:r>
              <a:rPr sz="1450" spc="1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35" dirty="0">
                <a:solidFill>
                  <a:srgbClr val="CFCBBE"/>
                </a:solidFill>
                <a:latin typeface="Palatino Linotype"/>
                <a:cs typeface="Palatino Linotype"/>
              </a:rPr>
              <a:t>support.</a:t>
            </a:r>
            <a:endParaRPr sz="145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8852" y="1078967"/>
            <a:ext cx="5353049" cy="59816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4224" rIns="0" bIns="0" rtlCol="0">
            <a:spAutoFit/>
          </a:bodyPr>
          <a:lstStyle/>
          <a:p>
            <a:pPr marL="214629">
              <a:lnSpc>
                <a:spcPct val="100000"/>
              </a:lnSpc>
              <a:spcBef>
                <a:spcPts val="114"/>
              </a:spcBef>
            </a:pPr>
            <a:r>
              <a:rPr spc="75" dirty="0"/>
              <a:t>Workflow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19" y="1542790"/>
            <a:ext cx="3924299" cy="18764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6606" y="1542790"/>
            <a:ext cx="4105259" cy="18764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1519" y="3833713"/>
            <a:ext cx="3924299" cy="18859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6606" y="3833713"/>
            <a:ext cx="4105259" cy="188594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4224" rIns="0" bIns="0" rtlCol="0">
            <a:spAutoFit/>
          </a:bodyPr>
          <a:lstStyle/>
          <a:p>
            <a:pPr marL="214629">
              <a:lnSpc>
                <a:spcPct val="100000"/>
              </a:lnSpc>
              <a:spcBef>
                <a:spcPts val="114"/>
              </a:spcBef>
            </a:pPr>
            <a:r>
              <a:rPr spc="155" dirty="0"/>
              <a:t>Frontend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19" y="1450436"/>
            <a:ext cx="3848099" cy="239076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94087" y="1440170"/>
            <a:ext cx="3705209" cy="24002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56308" y="4007327"/>
            <a:ext cx="4638690" cy="305754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4224" rIns="0" bIns="0" rtlCol="0">
            <a:spAutoFit/>
          </a:bodyPr>
          <a:lstStyle/>
          <a:p>
            <a:pPr marL="214629">
              <a:lnSpc>
                <a:spcPct val="100000"/>
              </a:lnSpc>
              <a:spcBef>
                <a:spcPts val="114"/>
              </a:spcBef>
            </a:pPr>
            <a:r>
              <a:rPr spc="185" dirty="0"/>
              <a:t>Backend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19" y="1894301"/>
            <a:ext cx="8286749" cy="343850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6844" rIns="0" bIns="0" rtlCol="0">
            <a:spAutoFit/>
          </a:bodyPr>
          <a:lstStyle/>
          <a:p>
            <a:pPr marL="214629">
              <a:lnSpc>
                <a:spcPct val="100000"/>
              </a:lnSpc>
              <a:spcBef>
                <a:spcPts val="114"/>
              </a:spcBef>
            </a:pPr>
            <a:r>
              <a:rPr spc="180" dirty="0"/>
              <a:t>Database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876800" y="0"/>
            <a:ext cx="4876800" cy="7315200"/>
            <a:chOff x="4876800" y="0"/>
            <a:chExt cx="4876800" cy="7315200"/>
          </a:xfrm>
        </p:grpSpPr>
        <p:pic>
          <p:nvPicPr>
            <p:cNvPr id="3" name="object 3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59484" y="6995159"/>
              <a:ext cx="1148428" cy="27431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76800" y="0"/>
              <a:ext cx="4876799" cy="73151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8473" y="1242973"/>
            <a:ext cx="3785870" cy="477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114" dirty="0"/>
              <a:t>Results</a:t>
            </a:r>
            <a:r>
              <a:rPr spc="-25" dirty="0"/>
              <a:t> </a:t>
            </a:r>
            <a:r>
              <a:rPr spc="114" dirty="0"/>
              <a:t>&amp;</a:t>
            </a:r>
            <a:r>
              <a:rPr spc="-25" dirty="0"/>
              <a:t> </a:t>
            </a:r>
            <a:r>
              <a:rPr spc="90" dirty="0"/>
              <a:t>Evaluation</a:t>
            </a: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4973" y="2472122"/>
            <a:ext cx="66675" cy="666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4973" y="3119822"/>
            <a:ext cx="66675" cy="666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4973" y="4091372"/>
            <a:ext cx="66675" cy="6667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78473" y="1919303"/>
            <a:ext cx="3844290" cy="29775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50" spc="100" dirty="0">
                <a:solidFill>
                  <a:srgbClr val="F4E782"/>
                </a:solidFill>
                <a:latin typeface="Palatino Linotype"/>
                <a:cs typeface="Palatino Linotype"/>
              </a:rPr>
              <a:t>Performance</a:t>
            </a:r>
            <a:r>
              <a:rPr sz="1650" spc="20" dirty="0">
                <a:solidFill>
                  <a:srgbClr val="F4E782"/>
                </a:solidFill>
                <a:latin typeface="Palatino Linotype"/>
                <a:cs typeface="Palatino Linotype"/>
              </a:rPr>
              <a:t> </a:t>
            </a:r>
            <a:r>
              <a:rPr sz="1650" spc="65" dirty="0">
                <a:solidFill>
                  <a:srgbClr val="F4E782"/>
                </a:solidFill>
                <a:latin typeface="Palatino Linotype"/>
                <a:cs typeface="Palatino Linotype"/>
              </a:rPr>
              <a:t>Metrics:</a:t>
            </a:r>
            <a:endParaRPr sz="1650">
              <a:latin typeface="Palatino Linotype"/>
              <a:cs typeface="Palatino Linotype"/>
            </a:endParaRPr>
          </a:p>
          <a:p>
            <a:pPr marL="138430" marR="5080">
              <a:lnSpc>
                <a:spcPct val="137100"/>
              </a:lnSpc>
              <a:spcBef>
                <a:spcPts val="840"/>
              </a:spcBef>
              <a:tabLst>
                <a:tab pos="807720" algn="l"/>
                <a:tab pos="1090930" algn="l"/>
                <a:tab pos="1965325" algn="l"/>
                <a:tab pos="2533015" algn="l"/>
                <a:tab pos="2690495" algn="l"/>
                <a:tab pos="2894330" algn="l"/>
                <a:tab pos="3122930" algn="l"/>
              </a:tabLst>
            </a:pPr>
            <a:r>
              <a:rPr sz="15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OCR</a:t>
            </a:r>
            <a:r>
              <a:rPr sz="15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5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Accuracy:</a:t>
            </a:r>
            <a:r>
              <a:rPr sz="15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550" spc="85" dirty="0">
                <a:solidFill>
                  <a:srgbClr val="CFCBBE"/>
                </a:solidFill>
                <a:latin typeface="Palatino Linotype"/>
                <a:cs typeface="Palatino Linotype"/>
              </a:rPr>
              <a:t>95%+</a:t>
            </a:r>
            <a:r>
              <a:rPr sz="1550" dirty="0">
                <a:solidFill>
                  <a:srgbClr val="CFCBBE"/>
                </a:solidFill>
                <a:latin typeface="Palatino Linotype"/>
                <a:cs typeface="Palatino Linotype"/>
              </a:rPr>
              <a:t>		</a:t>
            </a:r>
            <a:r>
              <a:rPr sz="1550" spc="180" dirty="0">
                <a:solidFill>
                  <a:srgbClr val="CFCBBE"/>
                </a:solidFill>
                <a:latin typeface="Palatino Linotype"/>
                <a:cs typeface="Palatino Linotype"/>
              </a:rPr>
              <a:t>—</a:t>
            </a:r>
            <a:r>
              <a:rPr sz="15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550" spc="90" dirty="0">
                <a:solidFill>
                  <a:srgbClr val="CFCBBE"/>
                </a:solidFill>
                <a:latin typeface="Palatino Linotype"/>
                <a:cs typeface="Palatino Linotype"/>
              </a:rPr>
              <a:t>Precise </a:t>
            </a:r>
            <a:r>
              <a:rPr sz="15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extraction</a:t>
            </a:r>
            <a:r>
              <a:rPr sz="15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from</a:t>
            </a:r>
            <a:r>
              <a:rPr sz="15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images</a:t>
            </a:r>
            <a:r>
              <a:rPr sz="15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spc="75" dirty="0">
                <a:solidFill>
                  <a:srgbClr val="CFCBBE"/>
                </a:solidFill>
                <a:latin typeface="Palatino Linotype"/>
                <a:cs typeface="Palatino Linotype"/>
              </a:rPr>
              <a:t>and</a:t>
            </a:r>
            <a:r>
              <a:rPr sz="15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spc="105" dirty="0">
                <a:solidFill>
                  <a:srgbClr val="CFCBBE"/>
                </a:solidFill>
                <a:latin typeface="Palatino Linotype"/>
                <a:cs typeface="Palatino Linotype"/>
              </a:rPr>
              <a:t>PDFs </a:t>
            </a:r>
            <a:r>
              <a:rPr sz="1550" spc="90" dirty="0">
                <a:solidFill>
                  <a:srgbClr val="CFCBBE"/>
                </a:solidFill>
                <a:latin typeface="Palatino Linotype"/>
                <a:cs typeface="Palatino Linotype"/>
              </a:rPr>
              <a:t>Fraud</a:t>
            </a:r>
            <a:r>
              <a:rPr sz="15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550" spc="85" dirty="0">
                <a:solidFill>
                  <a:srgbClr val="CFCBBE"/>
                </a:solidFill>
                <a:latin typeface="Palatino Linotype"/>
                <a:cs typeface="Palatino Linotype"/>
              </a:rPr>
              <a:t>Detection</a:t>
            </a:r>
            <a:r>
              <a:rPr sz="15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  Accuracy:  </a:t>
            </a:r>
            <a:r>
              <a:rPr sz="1550" spc="140" dirty="0">
                <a:solidFill>
                  <a:srgbClr val="CFCBBE"/>
                </a:solidFill>
                <a:latin typeface="Palatino Linotype"/>
                <a:cs typeface="Palatino Linotype"/>
              </a:rPr>
              <a:t>90%+</a:t>
            </a:r>
            <a:r>
              <a:rPr sz="15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550" spc="180" dirty="0">
                <a:solidFill>
                  <a:srgbClr val="CFCBBE"/>
                </a:solidFill>
                <a:latin typeface="Palatino Linotype"/>
                <a:cs typeface="Palatino Linotype"/>
              </a:rPr>
              <a:t>— </a:t>
            </a:r>
            <a:r>
              <a:rPr sz="15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Reliable</a:t>
            </a:r>
            <a:r>
              <a:rPr sz="15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550" spc="40" dirty="0">
                <a:solidFill>
                  <a:srgbClr val="CFCBBE"/>
                </a:solidFill>
                <a:latin typeface="Palatino Linotype"/>
                <a:cs typeface="Palatino Linotype"/>
              </a:rPr>
              <a:t>identification</a:t>
            </a:r>
            <a:r>
              <a:rPr sz="15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550" spc="25" dirty="0">
                <a:solidFill>
                  <a:srgbClr val="CFCBBE"/>
                </a:solidFill>
                <a:latin typeface="Palatino Linotype"/>
                <a:cs typeface="Palatino Linotype"/>
              </a:rPr>
              <a:t>of</a:t>
            </a:r>
            <a:r>
              <a:rPr sz="15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550" spc="75" dirty="0">
                <a:solidFill>
                  <a:srgbClr val="CFCBBE"/>
                </a:solidFill>
                <a:latin typeface="Palatino Linotype"/>
                <a:cs typeface="Palatino Linotype"/>
              </a:rPr>
              <a:t>tampered documents</a:t>
            </a:r>
            <a:endParaRPr sz="1550">
              <a:latin typeface="Palatino Linotype"/>
              <a:cs typeface="Palatino Linotype"/>
            </a:endParaRPr>
          </a:p>
          <a:p>
            <a:pPr marL="138430" marR="5080" algn="just">
              <a:lnSpc>
                <a:spcPct val="137100"/>
              </a:lnSpc>
            </a:pPr>
            <a:r>
              <a:rPr sz="15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Manual</a:t>
            </a:r>
            <a:r>
              <a:rPr sz="1550" spc="484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Verification</a:t>
            </a:r>
            <a:r>
              <a:rPr sz="1550" spc="49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Time:</a:t>
            </a:r>
            <a:r>
              <a:rPr sz="1550" spc="495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5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Reduced </a:t>
            </a:r>
            <a:r>
              <a:rPr sz="15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by</a:t>
            </a:r>
            <a:r>
              <a:rPr sz="1550" spc="185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550" spc="140" dirty="0">
                <a:solidFill>
                  <a:srgbClr val="CFCBBE"/>
                </a:solidFill>
                <a:latin typeface="Palatino Linotype"/>
                <a:cs typeface="Palatino Linotype"/>
              </a:rPr>
              <a:t>40%</a:t>
            </a:r>
            <a:r>
              <a:rPr sz="1550" spc="185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550" spc="229" dirty="0">
                <a:solidFill>
                  <a:srgbClr val="CFCBBE"/>
                </a:solidFill>
                <a:latin typeface="Palatino Linotype"/>
                <a:cs typeface="Palatino Linotype"/>
              </a:rPr>
              <a:t>—</a:t>
            </a:r>
            <a:r>
              <a:rPr sz="1550" spc="185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550" spc="100" dirty="0">
                <a:solidFill>
                  <a:srgbClr val="CFCBBE"/>
                </a:solidFill>
                <a:latin typeface="Palatino Linotype"/>
                <a:cs typeface="Palatino Linotype"/>
              </a:rPr>
              <a:t>Faster</a:t>
            </a:r>
            <a:r>
              <a:rPr sz="1550" spc="185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5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onboarding</a:t>
            </a:r>
            <a:r>
              <a:rPr sz="1550" spc="190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5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and </a:t>
            </a:r>
            <a:r>
              <a:rPr sz="15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processing</a:t>
            </a:r>
            <a:endParaRPr sz="155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657599" cy="73151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74093" y="2115027"/>
            <a:ext cx="3230880" cy="477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105" dirty="0"/>
              <a:t>Challenges</a:t>
            </a:r>
            <a:r>
              <a:rPr spc="5" dirty="0"/>
              <a:t> </a:t>
            </a:r>
            <a:r>
              <a:rPr spc="220" dirty="0"/>
              <a:t>Faced</a:t>
            </a:r>
          </a:p>
        </p:txBody>
      </p:sp>
      <p:sp>
        <p:nvSpPr>
          <p:cNvPr id="4" name="object 4"/>
          <p:cNvSpPr/>
          <p:nvPr/>
        </p:nvSpPr>
        <p:spPr>
          <a:xfrm>
            <a:off x="4120118" y="293458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10593" y="3385443"/>
            <a:ext cx="66675" cy="6667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4120118" y="385567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20118" y="460487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291965" y="2821394"/>
            <a:ext cx="4945380" cy="2214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Handling</a:t>
            </a:r>
            <a:r>
              <a:rPr sz="1450" spc="10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incomplete</a:t>
            </a:r>
            <a:r>
              <a:rPr sz="1450" spc="10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5" dirty="0">
                <a:solidFill>
                  <a:srgbClr val="CFCBBE"/>
                </a:solidFill>
                <a:latin typeface="Palatino Linotype"/>
                <a:cs typeface="Palatino Linotype"/>
              </a:rPr>
              <a:t>or</a:t>
            </a:r>
            <a:r>
              <a:rPr sz="1450" spc="10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low-quality</a:t>
            </a:r>
            <a:r>
              <a:rPr sz="1450" spc="10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document</a:t>
            </a:r>
            <a:r>
              <a:rPr sz="1450" spc="10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images.</a:t>
            </a:r>
            <a:endParaRPr sz="1450">
              <a:latin typeface="Palatino Linotype"/>
              <a:cs typeface="Palatino Linotype"/>
            </a:endParaRPr>
          </a:p>
          <a:p>
            <a:pPr marL="20320">
              <a:lnSpc>
                <a:spcPct val="100000"/>
              </a:lnSpc>
              <a:spcBef>
                <a:spcPts val="1860"/>
              </a:spcBef>
            </a:pPr>
            <a:r>
              <a:rPr sz="1550" spc="100" dirty="0">
                <a:solidFill>
                  <a:srgbClr val="CFCBBE"/>
                </a:solidFill>
                <a:latin typeface="Palatino Linotype"/>
                <a:cs typeface="Palatino Linotype"/>
              </a:rPr>
              <a:t>Resource</a:t>
            </a:r>
            <a:r>
              <a:rPr sz="1550" spc="9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constraints</a:t>
            </a:r>
            <a:r>
              <a:rPr sz="1550" spc="9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CFCBBE"/>
                </a:solidFill>
                <a:latin typeface="Palatino Linotype"/>
                <a:cs typeface="Palatino Linotype"/>
              </a:rPr>
              <a:t>while</a:t>
            </a:r>
            <a:r>
              <a:rPr sz="1550" spc="9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CFCBBE"/>
                </a:solidFill>
                <a:latin typeface="Palatino Linotype"/>
                <a:cs typeface="Palatino Linotype"/>
              </a:rPr>
              <a:t>deploying</a:t>
            </a:r>
            <a:r>
              <a:rPr sz="1550" spc="9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CFCBBE"/>
                </a:solidFill>
                <a:latin typeface="Palatino Linotype"/>
                <a:cs typeface="Palatino Linotype"/>
              </a:rPr>
              <a:t>AI</a:t>
            </a:r>
            <a:r>
              <a:rPr sz="1550" spc="9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models.</a:t>
            </a:r>
            <a:endParaRPr sz="1550">
              <a:latin typeface="Palatino Linotype"/>
              <a:cs typeface="Palatino Linotype"/>
            </a:endParaRPr>
          </a:p>
          <a:p>
            <a:pPr marL="12700" marR="5080">
              <a:lnSpc>
                <a:spcPct val="133600"/>
              </a:lnSpc>
              <a:spcBef>
                <a:spcPts val="1210"/>
              </a:spcBef>
            </a:pP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Balancing</a:t>
            </a:r>
            <a:r>
              <a:rPr sz="1450" spc="49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development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between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frontend,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backend,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and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25" dirty="0">
                <a:solidFill>
                  <a:srgbClr val="CFCBBE"/>
                </a:solidFill>
                <a:latin typeface="Palatino Linotype"/>
                <a:cs typeface="Palatino Linotype"/>
              </a:rPr>
              <a:t>ML.</a:t>
            </a:r>
            <a:endParaRPr sz="1450">
              <a:latin typeface="Palatino Linotype"/>
              <a:cs typeface="Palatino Linotype"/>
            </a:endParaRPr>
          </a:p>
          <a:p>
            <a:pPr marL="12700" marR="5080">
              <a:lnSpc>
                <a:spcPct val="133600"/>
              </a:lnSpc>
              <a:spcBef>
                <a:spcPts val="1245"/>
              </a:spcBef>
            </a:pP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Ensuring</a:t>
            </a:r>
            <a:r>
              <a:rPr sz="1450" spc="90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explainability</a:t>
            </a:r>
            <a:r>
              <a:rPr sz="1450" spc="95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of</a:t>
            </a:r>
            <a:r>
              <a:rPr sz="1450" spc="90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AI</a:t>
            </a:r>
            <a:r>
              <a:rPr sz="1450" spc="95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results</a:t>
            </a:r>
            <a:r>
              <a:rPr sz="1450" spc="95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for</a:t>
            </a:r>
            <a:r>
              <a:rPr sz="1450" spc="90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compliance </a:t>
            </a:r>
            <a:r>
              <a:rPr sz="1450" spc="40" dirty="0">
                <a:solidFill>
                  <a:srgbClr val="CFCBBE"/>
                </a:solidFill>
                <a:latin typeface="Palatino Linotype"/>
                <a:cs typeface="Palatino Linotype"/>
              </a:rPr>
              <a:t>officers.</a:t>
            </a:r>
            <a:endParaRPr sz="145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493" y="1337628"/>
            <a:ext cx="4088129" cy="477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155" dirty="0"/>
              <a:t>Future</a:t>
            </a:r>
            <a:r>
              <a:rPr spc="-30" dirty="0"/>
              <a:t> </a:t>
            </a:r>
            <a:r>
              <a:rPr spc="175" dirty="0"/>
              <a:t>Enhancements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29193" y="2298780"/>
            <a:ext cx="2797810" cy="2223770"/>
            <a:chOff x="529193" y="2298780"/>
            <a:chExt cx="2797810" cy="2223770"/>
          </a:xfrm>
        </p:grpSpPr>
        <p:sp>
          <p:nvSpPr>
            <p:cNvPr id="4" name="object 4"/>
            <p:cNvSpPr/>
            <p:nvPr/>
          </p:nvSpPr>
          <p:spPr>
            <a:xfrm>
              <a:off x="529193" y="2319099"/>
              <a:ext cx="2797175" cy="2203450"/>
            </a:xfrm>
            <a:custGeom>
              <a:avLst/>
              <a:gdLst/>
              <a:ahLst/>
              <a:cxnLst/>
              <a:rect l="l" t="t" r="r" b="b"/>
              <a:pathLst>
                <a:path w="2797175" h="2203450">
                  <a:moveTo>
                    <a:pt x="2700040" y="2203049"/>
                  </a:moveTo>
                  <a:lnTo>
                    <a:pt x="97536" y="2203049"/>
                  </a:lnTo>
                  <a:lnTo>
                    <a:pt x="59551" y="2195377"/>
                  </a:lnTo>
                  <a:lnTo>
                    <a:pt x="28551" y="2174486"/>
                  </a:lnTo>
                  <a:lnTo>
                    <a:pt x="7658" y="2143486"/>
                  </a:lnTo>
                  <a:lnTo>
                    <a:pt x="0" y="2105499"/>
                  </a:lnTo>
                  <a:lnTo>
                    <a:pt x="0" y="97534"/>
                  </a:lnTo>
                  <a:lnTo>
                    <a:pt x="7658" y="59551"/>
                  </a:lnTo>
                  <a:lnTo>
                    <a:pt x="59551" y="7657"/>
                  </a:lnTo>
                  <a:lnTo>
                    <a:pt x="97536" y="0"/>
                  </a:lnTo>
                  <a:lnTo>
                    <a:pt x="2700040" y="0"/>
                  </a:lnTo>
                  <a:lnTo>
                    <a:pt x="2737989" y="7657"/>
                  </a:lnTo>
                  <a:lnTo>
                    <a:pt x="2768994" y="28550"/>
                  </a:lnTo>
                  <a:lnTo>
                    <a:pt x="2789906" y="59551"/>
                  </a:lnTo>
                  <a:lnTo>
                    <a:pt x="2796840" y="93887"/>
                  </a:lnTo>
                  <a:lnTo>
                    <a:pt x="2796840" y="2109140"/>
                  </a:lnTo>
                  <a:lnTo>
                    <a:pt x="2789893" y="2143486"/>
                  </a:lnTo>
                  <a:lnTo>
                    <a:pt x="2768977" y="2174486"/>
                  </a:lnTo>
                  <a:lnTo>
                    <a:pt x="2737964" y="2195377"/>
                  </a:lnTo>
                  <a:lnTo>
                    <a:pt x="2700040" y="2203049"/>
                  </a:lnTo>
                  <a:close/>
                </a:path>
              </a:pathLst>
            </a:custGeom>
            <a:solidFill>
              <a:srgbClr val="1B1B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9193" y="2298780"/>
              <a:ext cx="2797588" cy="8124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98007" y="2655437"/>
            <a:ext cx="2259965" cy="116332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-635" algn="ctr">
              <a:lnSpc>
                <a:spcPct val="103400"/>
              </a:lnSpc>
              <a:spcBef>
                <a:spcPts val="55"/>
              </a:spcBef>
            </a:pPr>
            <a:r>
              <a:rPr sz="1450" spc="10" dirty="0">
                <a:solidFill>
                  <a:srgbClr val="CFCBBE"/>
                </a:solidFill>
                <a:latin typeface="Palatino Linotype"/>
                <a:cs typeface="Palatino Linotype"/>
              </a:rPr>
              <a:t>Official</a:t>
            </a:r>
            <a:r>
              <a:rPr sz="1450" spc="229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10" dirty="0">
                <a:solidFill>
                  <a:srgbClr val="CFCBBE"/>
                </a:solidFill>
                <a:latin typeface="Palatino Linotype"/>
                <a:cs typeface="Palatino Linotype"/>
              </a:rPr>
              <a:t>Identity</a:t>
            </a:r>
            <a:r>
              <a:rPr sz="1450" spc="23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25" dirty="0">
                <a:solidFill>
                  <a:srgbClr val="CFCBBE"/>
                </a:solidFill>
                <a:latin typeface="Palatino Linotype"/>
                <a:cs typeface="Palatino Linotype"/>
              </a:rPr>
              <a:t>API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IntegrationConnect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20" dirty="0">
                <a:solidFill>
                  <a:srgbClr val="CFCBBE"/>
                </a:solidFill>
                <a:latin typeface="Palatino Linotype"/>
                <a:cs typeface="Palatino Linotype"/>
              </a:rPr>
              <a:t>with 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Aadhaar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and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25" dirty="0">
                <a:solidFill>
                  <a:srgbClr val="CFCBBE"/>
                </a:solidFill>
                <a:latin typeface="Palatino Linotype"/>
                <a:cs typeface="Palatino Linotype"/>
              </a:rPr>
              <a:t>PAN 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verification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APIs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for 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real- 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time</a:t>
            </a:r>
            <a:r>
              <a:rPr sz="1450" spc="1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identity</a:t>
            </a:r>
            <a:r>
              <a:rPr sz="1450" spc="1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validation.</a:t>
            </a:r>
            <a:endParaRPr sz="1450">
              <a:latin typeface="Palatino Linotype"/>
              <a:cs typeface="Palatino Linotyp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477974" y="2298780"/>
            <a:ext cx="2797810" cy="2223770"/>
            <a:chOff x="3477974" y="2298780"/>
            <a:chExt cx="2797810" cy="2223770"/>
          </a:xfrm>
        </p:grpSpPr>
        <p:sp>
          <p:nvSpPr>
            <p:cNvPr id="8" name="object 8"/>
            <p:cNvSpPr/>
            <p:nvPr/>
          </p:nvSpPr>
          <p:spPr>
            <a:xfrm>
              <a:off x="3477974" y="2319099"/>
              <a:ext cx="2797175" cy="2203450"/>
            </a:xfrm>
            <a:custGeom>
              <a:avLst/>
              <a:gdLst/>
              <a:ahLst/>
              <a:cxnLst/>
              <a:rect l="l" t="t" r="r" b="b"/>
              <a:pathLst>
                <a:path w="2797175" h="2203450">
                  <a:moveTo>
                    <a:pt x="2700047" y="2203049"/>
                  </a:moveTo>
                  <a:lnTo>
                    <a:pt x="97542" y="2203049"/>
                  </a:lnTo>
                  <a:lnTo>
                    <a:pt x="59555" y="2195377"/>
                  </a:lnTo>
                  <a:lnTo>
                    <a:pt x="28555" y="2174486"/>
                  </a:lnTo>
                  <a:lnTo>
                    <a:pt x="7664" y="2143486"/>
                  </a:lnTo>
                  <a:lnTo>
                    <a:pt x="0" y="2105499"/>
                  </a:lnTo>
                  <a:lnTo>
                    <a:pt x="0" y="97534"/>
                  </a:lnTo>
                  <a:lnTo>
                    <a:pt x="7664" y="59551"/>
                  </a:lnTo>
                  <a:lnTo>
                    <a:pt x="59555" y="7657"/>
                  </a:lnTo>
                  <a:lnTo>
                    <a:pt x="97542" y="0"/>
                  </a:lnTo>
                  <a:lnTo>
                    <a:pt x="2700047" y="0"/>
                  </a:lnTo>
                  <a:lnTo>
                    <a:pt x="2737995" y="7657"/>
                  </a:lnTo>
                  <a:lnTo>
                    <a:pt x="2769000" y="28550"/>
                  </a:lnTo>
                  <a:lnTo>
                    <a:pt x="2789912" y="59551"/>
                  </a:lnTo>
                  <a:lnTo>
                    <a:pt x="2796840" y="93855"/>
                  </a:lnTo>
                  <a:lnTo>
                    <a:pt x="2796840" y="2109172"/>
                  </a:lnTo>
                  <a:lnTo>
                    <a:pt x="2789899" y="2143486"/>
                  </a:lnTo>
                  <a:lnTo>
                    <a:pt x="2768983" y="2174486"/>
                  </a:lnTo>
                  <a:lnTo>
                    <a:pt x="2737970" y="2195377"/>
                  </a:lnTo>
                  <a:lnTo>
                    <a:pt x="2700047" y="2203049"/>
                  </a:lnTo>
                  <a:close/>
                </a:path>
              </a:pathLst>
            </a:custGeom>
            <a:solidFill>
              <a:srgbClr val="1B1B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77981" y="2298780"/>
              <a:ext cx="2797588" cy="8124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653163" y="2655437"/>
            <a:ext cx="2447290" cy="116332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ctr">
              <a:lnSpc>
                <a:spcPct val="103400"/>
              </a:lnSpc>
              <a:spcBef>
                <a:spcPts val="55"/>
              </a:spcBef>
            </a:pP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Global</a:t>
            </a:r>
            <a:r>
              <a:rPr sz="1450" spc="4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AML</a:t>
            </a:r>
            <a:r>
              <a:rPr sz="1450" spc="4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85" dirty="0">
                <a:solidFill>
                  <a:srgbClr val="CFCBBE"/>
                </a:solidFill>
                <a:latin typeface="Palatino Linotype"/>
                <a:cs typeface="Palatino Linotype"/>
              </a:rPr>
              <a:t>Database 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IntegrationIncorporate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international</a:t>
            </a:r>
            <a:r>
              <a:rPr sz="1450" spc="2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blacklists</a:t>
            </a:r>
            <a:r>
              <a:rPr sz="1450" spc="3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and watchlists</a:t>
            </a:r>
            <a:r>
              <a:rPr sz="1450" spc="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for</a:t>
            </a:r>
            <a:r>
              <a:rPr sz="1450" spc="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enhanced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risk</a:t>
            </a:r>
            <a:r>
              <a:rPr sz="1450" spc="12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screening.</a:t>
            </a:r>
            <a:endParaRPr sz="1450">
              <a:latin typeface="Palatino Linotype"/>
              <a:cs typeface="Palatino Linotyp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426755" y="2298780"/>
            <a:ext cx="2797810" cy="2223770"/>
            <a:chOff x="6426755" y="2298780"/>
            <a:chExt cx="2797810" cy="2223770"/>
          </a:xfrm>
        </p:grpSpPr>
        <p:sp>
          <p:nvSpPr>
            <p:cNvPr id="12" name="object 12"/>
            <p:cNvSpPr/>
            <p:nvPr/>
          </p:nvSpPr>
          <p:spPr>
            <a:xfrm>
              <a:off x="6426755" y="2319099"/>
              <a:ext cx="2797175" cy="2203450"/>
            </a:xfrm>
            <a:custGeom>
              <a:avLst/>
              <a:gdLst/>
              <a:ahLst/>
              <a:cxnLst/>
              <a:rect l="l" t="t" r="r" b="b"/>
              <a:pathLst>
                <a:path w="2797175" h="2203450">
                  <a:moveTo>
                    <a:pt x="2700053" y="2203049"/>
                  </a:moveTo>
                  <a:lnTo>
                    <a:pt x="97549" y="2203049"/>
                  </a:lnTo>
                  <a:lnTo>
                    <a:pt x="59562" y="2195377"/>
                  </a:lnTo>
                  <a:lnTo>
                    <a:pt x="28561" y="2174486"/>
                  </a:lnTo>
                  <a:lnTo>
                    <a:pt x="7670" y="2143486"/>
                  </a:lnTo>
                  <a:lnTo>
                    <a:pt x="0" y="2105499"/>
                  </a:lnTo>
                  <a:lnTo>
                    <a:pt x="0" y="97534"/>
                  </a:lnTo>
                  <a:lnTo>
                    <a:pt x="7670" y="59551"/>
                  </a:lnTo>
                  <a:lnTo>
                    <a:pt x="59562" y="7657"/>
                  </a:lnTo>
                  <a:lnTo>
                    <a:pt x="97549" y="0"/>
                  </a:lnTo>
                  <a:lnTo>
                    <a:pt x="2700053" y="0"/>
                  </a:lnTo>
                  <a:lnTo>
                    <a:pt x="2738002" y="7657"/>
                  </a:lnTo>
                  <a:lnTo>
                    <a:pt x="2769006" y="28550"/>
                  </a:lnTo>
                  <a:lnTo>
                    <a:pt x="2789919" y="59551"/>
                  </a:lnTo>
                  <a:lnTo>
                    <a:pt x="2796840" y="93824"/>
                  </a:lnTo>
                  <a:lnTo>
                    <a:pt x="2796840" y="2109203"/>
                  </a:lnTo>
                  <a:lnTo>
                    <a:pt x="2789905" y="2143486"/>
                  </a:lnTo>
                  <a:lnTo>
                    <a:pt x="2768990" y="2174486"/>
                  </a:lnTo>
                  <a:lnTo>
                    <a:pt x="2737976" y="2195377"/>
                  </a:lnTo>
                  <a:lnTo>
                    <a:pt x="2700053" y="2203049"/>
                  </a:lnTo>
                  <a:close/>
                </a:path>
              </a:pathLst>
            </a:custGeom>
            <a:solidFill>
              <a:srgbClr val="1B1B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6768" y="2298780"/>
              <a:ext cx="2797588" cy="8124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795427" y="2655437"/>
            <a:ext cx="2060575" cy="139192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065" marR="5080" indent="43815" algn="ctr">
              <a:lnSpc>
                <a:spcPct val="103400"/>
              </a:lnSpc>
              <a:spcBef>
                <a:spcPts val="55"/>
              </a:spcBef>
            </a:pP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Multi-language</a:t>
            </a:r>
            <a:r>
              <a:rPr sz="1450" spc="4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OCR </a:t>
            </a:r>
            <a:r>
              <a:rPr sz="1450" spc="85" dirty="0">
                <a:solidFill>
                  <a:srgbClr val="CFCBBE"/>
                </a:solidFill>
                <a:latin typeface="Palatino Linotype"/>
                <a:cs typeface="Palatino Linotype"/>
              </a:rPr>
              <a:t>SupportEnable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text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extraction</a:t>
            </a:r>
            <a:r>
              <a:rPr sz="1450" spc="3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in</a:t>
            </a:r>
            <a:r>
              <a:rPr sz="1450" spc="3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35" dirty="0">
                <a:solidFill>
                  <a:srgbClr val="CFCBBE"/>
                </a:solidFill>
                <a:latin typeface="Palatino Linotype"/>
                <a:cs typeface="Palatino Linotype"/>
              </a:rPr>
              <a:t>regional 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languages</a:t>
            </a:r>
            <a:r>
              <a:rPr sz="1450" spc="3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like</a:t>
            </a:r>
            <a:r>
              <a:rPr sz="1450" spc="3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Hindi,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Tamil,</a:t>
            </a:r>
            <a:r>
              <a:rPr sz="1450" spc="15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etc.,</a:t>
            </a:r>
            <a:r>
              <a:rPr sz="1450" spc="15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for</a:t>
            </a:r>
            <a:r>
              <a:rPr sz="1450" spc="15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5" dirty="0">
                <a:solidFill>
                  <a:srgbClr val="CFCBBE"/>
                </a:solidFill>
                <a:latin typeface="Palatino Linotype"/>
                <a:cs typeface="Palatino Linotype"/>
              </a:rPr>
              <a:t>broader 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document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coverage.</a:t>
            </a:r>
            <a:endParaRPr sz="1450">
              <a:latin typeface="Palatino Linotype"/>
              <a:cs typeface="Palatino Linotyp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29193" y="4879817"/>
            <a:ext cx="8695690" cy="1042669"/>
            <a:chOff x="529193" y="4879817"/>
            <a:chExt cx="8695690" cy="1042669"/>
          </a:xfrm>
        </p:grpSpPr>
        <p:sp>
          <p:nvSpPr>
            <p:cNvPr id="16" name="object 16"/>
            <p:cNvSpPr/>
            <p:nvPr/>
          </p:nvSpPr>
          <p:spPr>
            <a:xfrm>
              <a:off x="529193" y="4900135"/>
              <a:ext cx="8695055" cy="1022350"/>
            </a:xfrm>
            <a:custGeom>
              <a:avLst/>
              <a:gdLst/>
              <a:ahLst/>
              <a:cxnLst/>
              <a:rect l="l" t="t" r="r" b="b"/>
              <a:pathLst>
                <a:path w="8695055" h="1022350">
                  <a:moveTo>
                    <a:pt x="8597646" y="1021950"/>
                  </a:moveTo>
                  <a:lnTo>
                    <a:pt x="97536" y="1021950"/>
                  </a:lnTo>
                  <a:lnTo>
                    <a:pt x="59551" y="1014283"/>
                  </a:lnTo>
                  <a:lnTo>
                    <a:pt x="28551" y="993385"/>
                  </a:lnTo>
                  <a:lnTo>
                    <a:pt x="7658" y="962383"/>
                  </a:lnTo>
                  <a:lnTo>
                    <a:pt x="0" y="924409"/>
                  </a:lnTo>
                  <a:lnTo>
                    <a:pt x="0" y="97547"/>
                  </a:lnTo>
                  <a:lnTo>
                    <a:pt x="7658" y="59560"/>
                  </a:lnTo>
                  <a:lnTo>
                    <a:pt x="28551" y="28560"/>
                  </a:lnTo>
                  <a:lnTo>
                    <a:pt x="59551" y="7669"/>
                  </a:lnTo>
                  <a:lnTo>
                    <a:pt x="97536" y="0"/>
                  </a:lnTo>
                  <a:lnTo>
                    <a:pt x="8597646" y="0"/>
                  </a:lnTo>
                  <a:lnTo>
                    <a:pt x="8635633" y="7669"/>
                  </a:lnTo>
                  <a:lnTo>
                    <a:pt x="8666633" y="28560"/>
                  </a:lnTo>
                  <a:lnTo>
                    <a:pt x="8687524" y="59560"/>
                  </a:lnTo>
                  <a:lnTo>
                    <a:pt x="8694567" y="94497"/>
                  </a:lnTo>
                  <a:lnTo>
                    <a:pt x="8694567" y="927457"/>
                  </a:lnTo>
                  <a:lnTo>
                    <a:pt x="8687524" y="962383"/>
                  </a:lnTo>
                  <a:lnTo>
                    <a:pt x="8666633" y="993385"/>
                  </a:lnTo>
                  <a:lnTo>
                    <a:pt x="8635633" y="1014283"/>
                  </a:lnTo>
                  <a:lnTo>
                    <a:pt x="8597646" y="1021950"/>
                  </a:lnTo>
                  <a:close/>
                </a:path>
              </a:pathLst>
            </a:custGeom>
            <a:solidFill>
              <a:srgbClr val="1B1B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9193" y="4879817"/>
              <a:ext cx="8695181" cy="81248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555738" y="5236477"/>
            <a:ext cx="6642100" cy="477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4450" algn="ctr">
              <a:lnSpc>
                <a:spcPct val="100000"/>
              </a:lnSpc>
              <a:spcBef>
                <a:spcPts val="114"/>
              </a:spcBef>
            </a:pP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Tamper-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Proof</a:t>
            </a:r>
            <a:r>
              <a:rPr sz="1450" spc="4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KYC</a:t>
            </a:r>
            <a:r>
              <a:rPr sz="1450" spc="4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Storage</a:t>
            </a:r>
            <a:endParaRPr sz="1450">
              <a:latin typeface="Palatino Linotype"/>
              <a:cs typeface="Palatino Linotype"/>
            </a:endParaRPr>
          </a:p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Leverage</a:t>
            </a:r>
            <a:r>
              <a:rPr sz="1450" spc="1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blockchain</a:t>
            </a:r>
            <a:r>
              <a:rPr sz="1450" spc="1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to</a:t>
            </a:r>
            <a:r>
              <a:rPr sz="1450" spc="2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5" dirty="0">
                <a:solidFill>
                  <a:srgbClr val="CFCBBE"/>
                </a:solidFill>
                <a:latin typeface="Palatino Linotype"/>
                <a:cs typeface="Palatino Linotype"/>
              </a:rPr>
              <a:t>store</a:t>
            </a:r>
            <a:r>
              <a:rPr sz="1450" spc="1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KYC</a:t>
            </a:r>
            <a:r>
              <a:rPr sz="1450" spc="2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data</a:t>
            </a:r>
            <a:r>
              <a:rPr sz="1450" spc="1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with</a:t>
            </a:r>
            <a:r>
              <a:rPr sz="1450" spc="1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immutable,</a:t>
            </a:r>
            <a:r>
              <a:rPr sz="1450" spc="2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auditable</a:t>
            </a:r>
            <a:r>
              <a:rPr sz="1450" spc="1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records.</a:t>
            </a:r>
            <a:endParaRPr sz="145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8819" y="1906083"/>
            <a:ext cx="2079625" cy="477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110" dirty="0"/>
              <a:t>Conclusion</a:t>
            </a:r>
          </a:p>
        </p:txBody>
      </p:sp>
      <p:sp>
        <p:nvSpPr>
          <p:cNvPr id="3" name="object 3"/>
          <p:cNvSpPr/>
          <p:nvPr/>
        </p:nvSpPr>
        <p:spPr>
          <a:xfrm>
            <a:off x="752804" y="284094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52804" y="322784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52804" y="361472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2804" y="399822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24651" y="2727754"/>
            <a:ext cx="5358130" cy="14065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Delivered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85" dirty="0">
                <a:solidFill>
                  <a:srgbClr val="CFCBBE"/>
                </a:solidFill>
                <a:latin typeface="Palatino Linotype"/>
                <a:cs typeface="Palatino Linotype"/>
              </a:rPr>
              <a:t>an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end-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to-</a:t>
            </a:r>
            <a:r>
              <a:rPr sz="1450" spc="75" dirty="0">
                <a:solidFill>
                  <a:srgbClr val="CFCBBE"/>
                </a:solidFill>
                <a:latin typeface="Palatino Linotype"/>
                <a:cs typeface="Palatino Linotype"/>
              </a:rPr>
              <a:t>end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AI-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driven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KYC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verification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system.</a:t>
            </a:r>
            <a:endParaRPr sz="1450">
              <a:latin typeface="Palatino Linotype"/>
              <a:cs typeface="Palatino Linotype"/>
            </a:endParaRPr>
          </a:p>
          <a:p>
            <a:pPr marL="12700" marR="488315">
              <a:lnSpc>
                <a:spcPct val="175100"/>
              </a:lnSpc>
            </a:pP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Real-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time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fraud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detection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and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compliance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alerting. </a:t>
            </a:r>
            <a:r>
              <a:rPr sz="1450" spc="90" dirty="0">
                <a:solidFill>
                  <a:srgbClr val="CFCBBE"/>
                </a:solidFill>
                <a:latin typeface="Palatino Linotype"/>
                <a:cs typeface="Palatino Linotype"/>
              </a:rPr>
              <a:t>Enables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5" dirty="0">
                <a:solidFill>
                  <a:srgbClr val="CFCBBE"/>
                </a:solidFill>
                <a:latin typeface="Palatino Linotype"/>
                <a:cs typeface="Palatino Linotype"/>
              </a:rPr>
              <a:t>banks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and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fintechs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to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85" dirty="0">
                <a:solidFill>
                  <a:srgbClr val="CFCBBE"/>
                </a:solidFill>
                <a:latin typeface="Palatino Linotype"/>
                <a:cs typeface="Palatino Linotype"/>
              </a:rPr>
              <a:t>onboard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users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40" dirty="0">
                <a:solidFill>
                  <a:srgbClr val="CFCBBE"/>
                </a:solidFill>
                <a:latin typeface="Palatino Linotype"/>
                <a:cs typeface="Palatino Linotype"/>
              </a:rPr>
              <a:t>securely.</a:t>
            </a:r>
            <a:endParaRPr sz="14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1450" spc="95" dirty="0">
                <a:solidFill>
                  <a:srgbClr val="CFCBBE"/>
                </a:solidFill>
                <a:latin typeface="Palatino Linotype"/>
                <a:cs typeface="Palatino Linotype"/>
              </a:rPr>
              <a:t>Scalable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 foundation for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next-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gen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10" dirty="0">
                <a:solidFill>
                  <a:srgbClr val="CFCBBE"/>
                </a:solidFill>
                <a:latin typeface="Palatino Linotype"/>
                <a:cs typeface="Palatino Linotype"/>
              </a:rPr>
              <a:t>regulatory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90" dirty="0">
                <a:solidFill>
                  <a:srgbClr val="CFCBBE"/>
                </a:solidFill>
                <a:latin typeface="Palatino Linotype"/>
                <a:cs typeface="Palatino Linotype"/>
              </a:rPr>
              <a:t>tech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 (RegTech).</a:t>
            </a:r>
            <a:endParaRPr sz="145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753600" cy="7315200"/>
            <a:chOff x="0" y="0"/>
            <a:chExt cx="9753600" cy="7315200"/>
          </a:xfrm>
        </p:grpSpPr>
        <p:pic>
          <p:nvPicPr>
            <p:cNvPr id="3" name="object 3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59484" y="6995159"/>
              <a:ext cx="1148428" cy="27431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753600" cy="73151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786</Words>
  <Application>Microsoft Office PowerPoint</Application>
  <PresentationFormat>Custom</PresentationFormat>
  <Paragraphs>100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Palatino Linotype</vt:lpstr>
      <vt:lpstr>Office Theme</vt:lpstr>
      <vt:lpstr>AI-Powered Identity Verification and Fraud Detection for KYC Compliance</vt:lpstr>
      <vt:lpstr>Problem Statement</vt:lpstr>
      <vt:lpstr>PowerPoint Presentation</vt:lpstr>
      <vt:lpstr>System Architecture</vt:lpstr>
      <vt:lpstr>Milestone 1 – Data Collection &amp; Preprocessing</vt:lpstr>
      <vt:lpstr>Milestone 2 – AI Model Development &amp; Fraud Detection</vt:lpstr>
      <vt:lpstr>Milestone 3 – AML/KYC Compliance Integration</vt:lpstr>
      <vt:lpstr>Milestone 4 – System Integration &amp; Deployment</vt:lpstr>
      <vt:lpstr>Workflow</vt:lpstr>
      <vt:lpstr>Frontend</vt:lpstr>
      <vt:lpstr>Backend</vt:lpstr>
      <vt:lpstr>Database</vt:lpstr>
      <vt:lpstr>Results &amp; Evaluation</vt:lpstr>
      <vt:lpstr>Challenges Faced</vt:lpstr>
      <vt:lpstr>Future Enhancements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AI-Powered-Identity-Verification-and-Fraud-Detection-for-KYC-Compliance.pptx</dc:title>
  <dc:creator>Bhavyasri Reddy Sudhini</dc:creator>
  <cp:keywords>DAG1C6Daglk,BAGXHwmdbAY,0</cp:keywords>
  <cp:lastModifiedBy>Tanmayi Nadipalli</cp:lastModifiedBy>
  <cp:revision>1</cp:revision>
  <dcterms:created xsi:type="dcterms:W3CDTF">2025-12-09T10:42:07Z</dcterms:created>
  <dcterms:modified xsi:type="dcterms:W3CDTF">2025-12-09T10:43:20Z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2025-10-08T00:00:00Z</vt:filetime>
  </property>
  <property fmtid="{D5CDD505-2E9C-101B-9397-08002B2CF9AE}" pid="3" name="Creator">
    <vt:lpwstr>Canva</vt:lpwstr>
  </property>
  <property fmtid="{D5CDD505-2E9C-101B-9397-08002B2CF9AE}" pid="4" name="LastSaved">
    <vt:filetime>2025-12-09T00:00:00Z</vt:filetime>
  </property>
  <property fmtid="{D5CDD505-2E9C-101B-9397-08002B2CF9AE}" pid="5" name="Producer">
    <vt:lpwstr>3-Heights(TM) PDF Security Shell 4.8.25.2 (http://www.pdf-tools.com)</vt:lpwstr>
  </property>
</Properties>
</file>